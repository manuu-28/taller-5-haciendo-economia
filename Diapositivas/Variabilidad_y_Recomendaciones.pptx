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sz="1400" b="0" i="0" u="none" strike="noStrike">
                <a:solidFill>
                  <a:srgbClr val="3A3129"/>
                </a:solidFill>
                <a:latin typeface="Calibri"/>
              </a:defRPr>
            </a:pPr>
            <a:r>
              <a:rPr lang="es-ES" sz="1400" b="0" i="0" u="none" strike="noStrike">
                <a:solidFill>
                  <a:srgbClr val="3A3129"/>
                </a:solidFill>
                <a:latin typeface="Calibri"/>
              </a:rPr>
              <a:t>Varianza de la anomalía de temperatura</a:t>
            </a:r>
          </a:p>
        </c:rich>
      </c:tx>
      <c:overlay val="0"/>
    </c:title>
    <c:autoTitleDeleted val="0"/>
    <c:plotArea>
      <c:layout/>
      <c:barChart>
        <c:barDir val="col"/>
        <c:grouping val="clustered"/>
        <c:varyColors val="0"/>
        <c:ser>
          <c:idx val="0"/>
          <c:order val="0"/>
          <c:tx>
            <c:strRef>
              <c:f>Sheet1!$B$1</c:f>
              <c:strCache>
                <c:ptCount val="1"/>
                <c:pt idx="0">
                  <c:v>1921–1950</c:v>
                </c:pt>
              </c:strCache>
            </c:strRef>
          </c:tx>
          <c:spPr>
            <a:solidFill>
              <a:srgbClr val="A7BEAE"/>
            </a:solidFill>
            <a:effectLst/>
          </c:spPr>
          <c:invertIfNegative val="0"/>
          <c:cat>
            <c:strRef>
              <c:f>Sheet1!$A$2:$A$5</c:f>
              <c:strCache>
                <c:ptCount val="4"/>
                <c:pt idx="0">
                  <c:v>DJF</c:v>
                </c:pt>
                <c:pt idx="1">
                  <c:v>MAM</c:v>
                </c:pt>
                <c:pt idx="2">
                  <c:v>JJA</c:v>
                </c:pt>
                <c:pt idx="3">
                  <c:v>SON</c:v>
                </c:pt>
              </c:strCache>
            </c:strRef>
          </c:cat>
          <c:val>
            <c:numRef>
              <c:f>Sheet1!$B$2:$B$5</c:f>
              <c:numCache>
                <c:formatCode>General</c:formatCode>
                <c:ptCount val="4"/>
                <c:pt idx="0">
                  <c:v>5.67E-2</c:v>
                </c:pt>
                <c:pt idx="1">
                  <c:v>3.1099999999999999E-2</c:v>
                </c:pt>
                <c:pt idx="2">
                  <c:v>2.1000000000000001E-2</c:v>
                </c:pt>
                <c:pt idx="3">
                  <c:v>2.7400000000000001E-2</c:v>
                </c:pt>
              </c:numCache>
            </c:numRef>
          </c:val>
          <c:extLst>
            <c:ext xmlns:c16="http://schemas.microsoft.com/office/drawing/2014/chart" uri="{C3380CC4-5D6E-409C-BE32-E72D297353CC}">
              <c16:uniqueId val="{00000000-640B-46A9-98B6-A3B26236D4F1}"/>
            </c:ext>
          </c:extLst>
        </c:ser>
        <c:ser>
          <c:idx val="1"/>
          <c:order val="1"/>
          <c:tx>
            <c:strRef>
              <c:f>Sheet1!$C$1</c:f>
              <c:strCache>
                <c:ptCount val="1"/>
                <c:pt idx="0">
                  <c:v>1951–1980</c:v>
                </c:pt>
              </c:strCache>
            </c:strRef>
          </c:tx>
          <c:spPr>
            <a:solidFill>
              <a:srgbClr val="7A6E63"/>
            </a:solidFill>
            <a:effectLst/>
          </c:spPr>
          <c:invertIfNegative val="0"/>
          <c:cat>
            <c:strRef>
              <c:f>Sheet1!$A$2:$A$5</c:f>
              <c:strCache>
                <c:ptCount val="4"/>
                <c:pt idx="0">
                  <c:v>DJF</c:v>
                </c:pt>
                <c:pt idx="1">
                  <c:v>MAM</c:v>
                </c:pt>
                <c:pt idx="2">
                  <c:v>JJA</c:v>
                </c:pt>
                <c:pt idx="3">
                  <c:v>SON</c:v>
                </c:pt>
              </c:strCache>
            </c:strRef>
          </c:cat>
          <c:val>
            <c:numRef>
              <c:f>Sheet1!$C$2:$C$5</c:f>
              <c:numCache>
                <c:formatCode>General</c:formatCode>
                <c:ptCount val="4"/>
                <c:pt idx="0">
                  <c:v>5.04E-2</c:v>
                </c:pt>
                <c:pt idx="1">
                  <c:v>2.5100000000000001E-2</c:v>
                </c:pt>
                <c:pt idx="2">
                  <c:v>1.4500000000000001E-2</c:v>
                </c:pt>
                <c:pt idx="3">
                  <c:v>2.64E-2</c:v>
                </c:pt>
              </c:numCache>
            </c:numRef>
          </c:val>
          <c:extLst>
            <c:ext xmlns:c16="http://schemas.microsoft.com/office/drawing/2014/chart" uri="{C3380CC4-5D6E-409C-BE32-E72D297353CC}">
              <c16:uniqueId val="{00000001-640B-46A9-98B6-A3B26236D4F1}"/>
            </c:ext>
          </c:extLst>
        </c:ser>
        <c:ser>
          <c:idx val="2"/>
          <c:order val="2"/>
          <c:tx>
            <c:strRef>
              <c:f>Sheet1!$D$1</c:f>
              <c:strCache>
                <c:ptCount val="1"/>
                <c:pt idx="0">
                  <c:v>1981–2010</c:v>
                </c:pt>
              </c:strCache>
            </c:strRef>
          </c:tx>
          <c:spPr>
            <a:solidFill>
              <a:srgbClr val="B85042"/>
            </a:solidFill>
            <a:effectLst/>
          </c:spPr>
          <c:invertIfNegative val="0"/>
          <c:cat>
            <c:strRef>
              <c:f>Sheet1!$A$2:$A$5</c:f>
              <c:strCache>
                <c:ptCount val="4"/>
                <c:pt idx="0">
                  <c:v>DJF</c:v>
                </c:pt>
                <c:pt idx="1">
                  <c:v>MAM</c:v>
                </c:pt>
                <c:pt idx="2">
                  <c:v>JJA</c:v>
                </c:pt>
                <c:pt idx="3">
                  <c:v>SON</c:v>
                </c:pt>
              </c:strCache>
            </c:strRef>
          </c:cat>
          <c:val>
            <c:numRef>
              <c:f>Sheet1!$D$2:$D$5</c:f>
              <c:numCache>
                <c:formatCode>General</c:formatCode>
                <c:ptCount val="4"/>
                <c:pt idx="0">
                  <c:v>7.9200000000000007E-2</c:v>
                </c:pt>
                <c:pt idx="1">
                  <c:v>7.6300000000000007E-2</c:v>
                </c:pt>
                <c:pt idx="2">
                  <c:v>6.8199999999999997E-2</c:v>
                </c:pt>
                <c:pt idx="3">
                  <c:v>0.1114</c:v>
                </c:pt>
              </c:numCache>
            </c:numRef>
          </c:val>
          <c:extLst>
            <c:ext xmlns:c16="http://schemas.microsoft.com/office/drawing/2014/chart" uri="{C3380CC4-5D6E-409C-BE32-E72D297353CC}">
              <c16:uniqueId val="{00000002-640B-46A9-98B6-A3B26236D4F1}"/>
            </c:ext>
          </c:extLst>
        </c:ser>
        <c:dLbls>
          <c:showLegendKey val="0"/>
          <c:showVal val="0"/>
          <c:showCatName val="0"/>
          <c:showSerName val="0"/>
          <c:showPercent val="0"/>
          <c:showBubbleSize val="0"/>
        </c:dLbls>
        <c:gapWidth val="45"/>
        <c:axId val="2094734554"/>
        <c:axId val="2094734552"/>
      </c:barChart>
      <c:catAx>
        <c:axId val="2094734554"/>
        <c:scaling>
          <c:orientation val="minMax"/>
        </c:scaling>
        <c:delete val="0"/>
        <c:axPos val="b"/>
        <c:title>
          <c:tx>
            <c:rich>
              <a:bodyPr/>
              <a:lstStyle/>
              <a:p>
                <a:pPr>
                  <a:defRPr/>
                </a:pPr>
                <a:r>
                  <a:rPr lang="es-CO" dirty="0"/>
                  <a:t>Estación</a:t>
                </a:r>
                <a:r>
                  <a:rPr lang="es-CO" baseline="0" dirty="0"/>
                  <a:t> </a:t>
                </a:r>
                <a:endParaRPr lang="es-CO" dirty="0"/>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A3129"/>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5E1DA"/>
              </a:solidFill>
              <a:prstDash val="solid"/>
              <a:round/>
            </a:ln>
          </c:spPr>
        </c:majorGridlines>
        <c:title>
          <c:tx>
            <c:rich>
              <a:bodyPr/>
              <a:lstStyle/>
              <a:p>
                <a:pPr>
                  <a:defRPr/>
                </a:pPr>
                <a:r>
                  <a:rPr lang="es-CO" dirty="0"/>
                  <a:t>Varianza</a:t>
                </a:r>
                <a:r>
                  <a:rPr lang="es-CO" baseline="0" dirty="0"/>
                  <a:t> de temperatura </a:t>
                </a:r>
                <a:endParaRPr lang="es-CO" dirty="0"/>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A6E63"/>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3A3129"/>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60264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Buenas tardes. Ya vimos que la temperatura del Hemisferio Norte ha subido de forma sostenida desde 1980. Pero un promedio que sube no cuenta toda la historia. Mi parte del análisis responde una pregunta distinta y, para efectos de política pública, igual de importante: ¿se volvió también más variable el clima? Y con esa evidencia, ¿qué le recomendamos al Estado?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Muy brevemente, de dónde venimos. El análisis previo comparó dos períodos de treinta años, 1951 a 1980 y 1981 a 2010, usando las anomalías del verano boreal — JJA, por junio, julio y agosto. Encontró dos cosas: primero, que la distribución no se deformó, simplemente se corrió hacia valores más cálidos, y los meses fríos casi desaparecen. Y segundo, el dato más contundente: el 84.44% de los meses del período reciente superan el umbral de temperatura 'caliente' definido en el período base, cuando por pura definición estadística solo el 30% debería superarlo. Casi el triple. Sobre esa base, mi parte del análisis responde dos preguntas: ¿qué pasó con la variabilidad, y qué le recomendamos al Estado?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la pregunta 1.2.5 medimos la varianza. La varianza nos dice qué tan dispersos están los valores alrededor de su propio promedio — es decir, qué tan predecible o impredecible es la temperatura. La calculamos para las cuatro estaciones del año por separado, y en tres períodos distintos: 1921 a 1950, el período base de 1951 a 1980, y 1981 a 2010. Incluimos el período más antiguo justamente para poder ver si el cambio es algo reciente o si ya venía de antes. Y aquí lo importante: una varianza más alta significa un clima menos predecible mes a mes — no necesariamente más caliente. Son dos cosas distintas.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este es el resultado. En las cuatro estaciones, sin excepción, la varianza sube entre el período base y el más reciente. En el verano boreal casi se cuadruplica: pasa de 0.0145 a 0.0682. Y el otoño boreal es la estación con mayor varianza del período reciente, 0.1114. Fíjense también en algo importante: si comparan la barra verde, que es 1921 a 1950, con la gris del período base, no hay una tendencia clara — algunas suben, otras bajan. El salto ocurre en el período reciente. Eso nos dice que el aumento de variabilidad no venía de antes: es un fenómeno de las últimas décadas.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por qué importa esto para una decisión de política pública? Porque un promedio más alto se puede planear: uno ajusta los supuestos y sigue. Un rango más ancho, no. La planeación agrícola asume rangos estables de temperatura para los calendarios de siembra y cosecha. El diseño de infraestructura se calcula para un rango esperado de condiciones. Y la gestión de desastres se dimensiona sobre la frecuencia histórica de eventos extremos. Cuando la varianza sube, los tres supuestos se debilitan al mismo tiempo. Ya no basta con planear para 'un poco más de calor' — hay que planear para un rango mucho más amplio de posibilidades.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llegamos a la pregunta 1.2.6: ¿mitigación o adaptación? Nuestra recomendación es que no es una disyuntiva — son las dos. La mitigación ataca la causa, reduciendo las emisiones detrás del calentamiento, y responde directamente al desplazamiento del promedio que vimos en 1.2.2 y 1.2.4. La adaptación prepara al país para una mayor frecuencia e intensidad de eventos extremos, y responde al aumento de varianza que acabamos de mostrar en 1.2.5. Cada una responde a una mitad distinta de la evidencia. Y la adaptación es necesaria incluso si la mitigación empieza a funcionar hoy, porque la variabilidad que ya se acumuló va a seguir alta durante años. Elegir solo una sería ignorar la mitad de lo que encontramos.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cerrar, seríamos honestos en decir qué nos falta para que esta recomendación se traduzca en política concreta: necesitaríamos datos de costos históricos de eventos climáticos extremos en el país, un análisis de costo-beneficio de medidas específicas de mitigación y de adaptación, y un mapeo de qué regiones o sectores económicos son más vulnerables, para saber dónde priorizar los recursos primero. Nuestro análisis da la base científica de que el problema es real y tiene dos caras — el diseño detallado de la política es el siguiente paso. Quedo atento a sus preguntas.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2118"/>
        </a:solidFill>
        <a:effectLst/>
      </p:bgPr>
    </p:bg>
    <p:spTree>
      <p:nvGrpSpPr>
        <p:cNvPr id="1" name=""/>
        <p:cNvGrpSpPr/>
        <p:nvPr/>
      </p:nvGrpSpPr>
      <p:grpSpPr>
        <a:xfrm>
          <a:off x="0" y="0"/>
          <a:ext cx="0" cy="0"/>
          <a:chOff x="0" y="0"/>
          <a:chExt cx="0" cy="0"/>
        </a:xfrm>
      </p:grpSpPr>
      <p:sp>
        <p:nvSpPr>
          <p:cNvPr id="2" name="Shape 0"/>
          <p:cNvSpPr/>
          <p:nvPr/>
        </p:nvSpPr>
        <p:spPr>
          <a:xfrm>
            <a:off x="9509760" y="-1280160"/>
            <a:ext cx="4206240" cy="4206240"/>
          </a:xfrm>
          <a:prstGeom prst="ellipse">
            <a:avLst/>
          </a:prstGeom>
          <a:solidFill>
            <a:srgbClr val="B85042">
              <a:alpha val="28000"/>
            </a:srgbClr>
          </a:solidFill>
          <a:ln/>
        </p:spPr>
        <p:txBody>
          <a:bodyPr/>
          <a:lstStyle/>
          <a:p>
            <a:endParaRPr lang="es-CO"/>
          </a:p>
        </p:txBody>
      </p:sp>
      <p:sp>
        <p:nvSpPr>
          <p:cNvPr id="3" name="Shape 1"/>
          <p:cNvSpPr/>
          <p:nvPr/>
        </p:nvSpPr>
        <p:spPr>
          <a:xfrm>
            <a:off x="10607040" y="4206240"/>
            <a:ext cx="2743200" cy="2743200"/>
          </a:xfrm>
          <a:prstGeom prst="ellipse">
            <a:avLst/>
          </a:prstGeom>
          <a:solidFill>
            <a:srgbClr val="A7BEAE">
              <a:alpha val="20000"/>
            </a:srgbClr>
          </a:solidFill>
          <a:ln/>
        </p:spPr>
        <p:txBody>
          <a:bodyPr/>
          <a:lstStyle/>
          <a:p>
            <a:endParaRPr lang="es-CO"/>
          </a:p>
        </p:txBody>
      </p:sp>
      <p:sp>
        <p:nvSpPr>
          <p:cNvPr id="4" name="Text 2"/>
          <p:cNvSpPr txBox="1"/>
          <p:nvPr/>
        </p:nvSpPr>
        <p:spPr>
          <a:xfrm>
            <a:off x="822960" y="1600200"/>
            <a:ext cx="8778240" cy="365760"/>
          </a:xfrm>
          <a:prstGeom prst="rect">
            <a:avLst/>
          </a:prstGeom>
          <a:noFill/>
          <a:ln/>
        </p:spPr>
        <p:txBody>
          <a:bodyPr wrap="square" lIns="0" tIns="0" rIns="0" bIns="0" rtlCol="0" anchor="ctr"/>
          <a:lstStyle/>
          <a:p>
            <a:pPr marL="0" indent="0">
              <a:buNone/>
            </a:pPr>
            <a:r>
              <a:rPr lang="en-US" sz="1300" b="1" kern="0" spc="250" dirty="0">
                <a:solidFill>
                  <a:srgbClr val="A7BEAE"/>
                </a:solidFill>
                <a:latin typeface="Calibri" pitchFamily="34" charset="0"/>
                <a:ea typeface="Calibri" pitchFamily="34" charset="-122"/>
                <a:cs typeface="Calibri" pitchFamily="34" charset="-120"/>
              </a:rPr>
              <a:t>TALLER 5 · CONSULTORÍA CLIMA · PREGUNTAS 1.2.5 Y 1.2.6</a:t>
            </a:r>
            <a:endParaRPr lang="en-US" sz="1300" dirty="0"/>
          </a:p>
        </p:txBody>
      </p:sp>
      <p:sp>
        <p:nvSpPr>
          <p:cNvPr id="5" name="Text 3"/>
          <p:cNvSpPr txBox="1"/>
          <p:nvPr/>
        </p:nvSpPr>
        <p:spPr>
          <a:xfrm>
            <a:off x="822960" y="2057400"/>
            <a:ext cx="8412480" cy="1737360"/>
          </a:xfrm>
          <a:prstGeom prst="rect">
            <a:avLst/>
          </a:prstGeom>
          <a:noFill/>
          <a:ln/>
        </p:spPr>
        <p:txBody>
          <a:bodyPr wrap="square" lIns="0" tIns="0" rIns="0" bIns="0" rtlCol="0" anchor="ctr"/>
          <a:lstStyle/>
          <a:p>
            <a:pPr marL="0" indent="0">
              <a:lnSpc>
                <a:spcPts val="5000"/>
              </a:lnSpc>
              <a:buNone/>
            </a:pPr>
            <a:r>
              <a:rPr lang="en-US" sz="4400" b="1" dirty="0">
                <a:solidFill>
                  <a:srgbClr val="FFFFFF"/>
                </a:solidFill>
                <a:latin typeface="Cambria" pitchFamily="34" charset="0"/>
                <a:ea typeface="Cambria" pitchFamily="34" charset="-122"/>
                <a:cs typeface="Cambria" pitchFamily="34" charset="-120"/>
              </a:rPr>
              <a:t>Variabilidad climática</a:t>
            </a:r>
            <a:endParaRPr lang="en-US" sz="4400" dirty="0"/>
          </a:p>
          <a:p>
            <a:pPr marL="0" indent="0">
              <a:lnSpc>
                <a:spcPts val="5000"/>
              </a:lnSpc>
              <a:buNone/>
            </a:pPr>
            <a:r>
              <a:rPr lang="en-US" sz="4400" b="1" dirty="0">
                <a:solidFill>
                  <a:srgbClr val="FFFFFF"/>
                </a:solidFill>
                <a:latin typeface="Cambria" pitchFamily="34" charset="0"/>
                <a:ea typeface="Cambria" pitchFamily="34" charset="-122"/>
                <a:cs typeface="Cambria" pitchFamily="34" charset="-120"/>
              </a:rPr>
              <a:t>y recomendaciones</a:t>
            </a:r>
            <a:endParaRPr lang="en-US" sz="4400" dirty="0"/>
          </a:p>
        </p:txBody>
      </p:sp>
      <p:sp>
        <p:nvSpPr>
          <p:cNvPr id="6" name="Text 4"/>
          <p:cNvSpPr txBox="1"/>
          <p:nvPr/>
        </p:nvSpPr>
        <p:spPr>
          <a:xfrm>
            <a:off x="822960" y="4756746"/>
            <a:ext cx="8229600" cy="457200"/>
          </a:xfrm>
          <a:prstGeom prst="rect">
            <a:avLst/>
          </a:prstGeom>
          <a:noFill/>
          <a:ln/>
        </p:spPr>
        <p:txBody>
          <a:bodyPr wrap="square" lIns="0" tIns="0" rIns="0" bIns="0" rtlCol="0" anchor="ctr"/>
          <a:lstStyle/>
          <a:p>
            <a:pPr marL="0" indent="0">
              <a:buNone/>
            </a:pPr>
            <a:r>
              <a:rPr lang="en-US" sz="1700" i="1" dirty="0">
                <a:solidFill>
                  <a:srgbClr val="E7E8D1"/>
                </a:solidFill>
                <a:latin typeface="Calibri" pitchFamily="34" charset="0"/>
                <a:ea typeface="Calibri" pitchFamily="34" charset="-122"/>
                <a:cs typeface="Calibri" pitchFamily="34" charset="-120"/>
              </a:rPr>
              <a:t>Grupo 5C</a:t>
            </a:r>
          </a:p>
          <a:p>
            <a:pPr marL="0" indent="0">
              <a:buNone/>
            </a:pPr>
            <a:r>
              <a:rPr lang="en-US" sz="1700" i="1" dirty="0" err="1">
                <a:solidFill>
                  <a:srgbClr val="E7E8D1"/>
                </a:solidFill>
                <a:latin typeface="Calibri" pitchFamily="34" charset="0"/>
                <a:ea typeface="Calibri" pitchFamily="34" charset="-122"/>
                <a:cs typeface="Calibri" pitchFamily="34" charset="-120"/>
              </a:rPr>
              <a:t>Líder</a:t>
            </a:r>
            <a:r>
              <a:rPr lang="en-US" sz="1700" i="1" dirty="0">
                <a:solidFill>
                  <a:srgbClr val="E7E8D1"/>
                </a:solidFill>
                <a:latin typeface="Calibri" pitchFamily="34" charset="0"/>
                <a:ea typeface="Calibri" pitchFamily="34" charset="-122"/>
                <a:cs typeface="Calibri" pitchFamily="34" charset="-120"/>
              </a:rPr>
              <a:t>: Manuela Vergara </a:t>
            </a:r>
          </a:p>
          <a:p>
            <a:pPr marL="0" indent="0">
              <a:buNone/>
            </a:pPr>
            <a:r>
              <a:rPr lang="en-US" sz="1700" i="1" dirty="0" err="1">
                <a:solidFill>
                  <a:srgbClr val="E7E8D1"/>
                </a:solidFill>
                <a:latin typeface="Calibri" pitchFamily="34" charset="0"/>
                <a:ea typeface="Calibri" pitchFamily="34" charset="-122"/>
                <a:cs typeface="Calibri" pitchFamily="34" charset="-120"/>
              </a:rPr>
              <a:t>Experta</a:t>
            </a:r>
            <a:r>
              <a:rPr lang="en-US" sz="1700" i="1" dirty="0">
                <a:solidFill>
                  <a:srgbClr val="E7E8D1"/>
                </a:solidFill>
                <a:latin typeface="Calibri" pitchFamily="34" charset="0"/>
                <a:ea typeface="Calibri" pitchFamily="34" charset="-122"/>
                <a:cs typeface="Calibri" pitchFamily="34" charset="-120"/>
              </a:rPr>
              <a:t> </a:t>
            </a:r>
            <a:r>
              <a:rPr lang="en-US" sz="1700" i="1" dirty="0" err="1">
                <a:solidFill>
                  <a:srgbClr val="E7E8D1"/>
                </a:solidFill>
                <a:latin typeface="Calibri" pitchFamily="34" charset="0"/>
                <a:ea typeface="Calibri" pitchFamily="34" charset="-122"/>
                <a:cs typeface="Calibri" pitchFamily="34" charset="-120"/>
              </a:rPr>
              <a:t>en</a:t>
            </a:r>
            <a:r>
              <a:rPr lang="en-US" sz="1700" i="1" dirty="0">
                <a:solidFill>
                  <a:srgbClr val="E7E8D1"/>
                </a:solidFill>
                <a:latin typeface="Calibri" pitchFamily="34" charset="0"/>
                <a:ea typeface="Calibri" pitchFamily="34" charset="-122"/>
                <a:cs typeface="Calibri" pitchFamily="34" charset="-120"/>
              </a:rPr>
              <a:t> </a:t>
            </a:r>
            <a:r>
              <a:rPr lang="en-US" sz="1700" i="1" dirty="0" err="1">
                <a:solidFill>
                  <a:srgbClr val="E7E8D1"/>
                </a:solidFill>
                <a:latin typeface="Calibri" pitchFamily="34" charset="0"/>
                <a:ea typeface="Calibri" pitchFamily="34" charset="-122"/>
                <a:cs typeface="Calibri" pitchFamily="34" charset="-120"/>
              </a:rPr>
              <a:t>visualización</a:t>
            </a:r>
            <a:r>
              <a:rPr lang="en-US" sz="1700" i="1" dirty="0">
                <a:solidFill>
                  <a:srgbClr val="E7E8D1"/>
                </a:solidFill>
                <a:latin typeface="Calibri" pitchFamily="34" charset="0"/>
                <a:ea typeface="Calibri" pitchFamily="34" charset="-122"/>
                <a:cs typeface="Calibri" pitchFamily="34" charset="-120"/>
              </a:rPr>
              <a:t>: Chari Reyes</a:t>
            </a:r>
            <a:br>
              <a:rPr lang="en-US" sz="1700" i="1" dirty="0">
                <a:solidFill>
                  <a:srgbClr val="E7E8D1"/>
                </a:solidFill>
                <a:latin typeface="Calibri" pitchFamily="34" charset="0"/>
                <a:ea typeface="Calibri" pitchFamily="34" charset="-122"/>
                <a:cs typeface="Calibri" pitchFamily="34" charset="-120"/>
              </a:rPr>
            </a:br>
            <a:r>
              <a:rPr lang="en-US" sz="1700" i="1" dirty="0" err="1">
                <a:solidFill>
                  <a:srgbClr val="E7E8D1"/>
                </a:solidFill>
                <a:latin typeface="Calibri" pitchFamily="34" charset="0"/>
                <a:ea typeface="Calibri" pitchFamily="34" charset="-122"/>
                <a:cs typeface="Calibri" pitchFamily="34" charset="-120"/>
              </a:rPr>
              <a:t>Analista</a:t>
            </a:r>
            <a:r>
              <a:rPr lang="en-US" sz="1700" i="1" dirty="0">
                <a:solidFill>
                  <a:srgbClr val="E7E8D1"/>
                </a:solidFill>
                <a:latin typeface="Calibri" pitchFamily="34" charset="0"/>
                <a:ea typeface="Calibri" pitchFamily="34" charset="-122"/>
                <a:cs typeface="Calibri" pitchFamily="34" charset="-120"/>
              </a:rPr>
              <a:t> </a:t>
            </a:r>
            <a:r>
              <a:rPr lang="en-US" sz="1700" i="1" dirty="0" err="1">
                <a:solidFill>
                  <a:srgbClr val="E7E8D1"/>
                </a:solidFill>
                <a:latin typeface="Calibri" pitchFamily="34" charset="0"/>
                <a:ea typeface="Calibri" pitchFamily="34" charset="-122"/>
                <a:cs typeface="Calibri" pitchFamily="34" charset="-120"/>
              </a:rPr>
              <a:t>cuantitativo</a:t>
            </a:r>
            <a:r>
              <a:rPr lang="en-US" sz="1700" i="1" dirty="0">
                <a:solidFill>
                  <a:srgbClr val="E7E8D1"/>
                </a:solidFill>
                <a:latin typeface="Calibri" pitchFamily="34" charset="0"/>
                <a:ea typeface="Calibri" pitchFamily="34" charset="-122"/>
                <a:cs typeface="Calibri" pitchFamily="34" charset="-120"/>
              </a:rPr>
              <a:t>: David Rodriguez</a:t>
            </a:r>
            <a:br>
              <a:rPr lang="en-US" sz="1700" i="1" dirty="0">
                <a:solidFill>
                  <a:srgbClr val="E7E8D1"/>
                </a:solidFill>
                <a:latin typeface="Calibri" pitchFamily="34" charset="0"/>
                <a:ea typeface="Calibri" pitchFamily="34" charset="-122"/>
                <a:cs typeface="Calibri" pitchFamily="34" charset="-120"/>
              </a:rPr>
            </a:br>
            <a:r>
              <a:rPr lang="en-US" sz="1700" i="1" dirty="0" err="1">
                <a:solidFill>
                  <a:srgbClr val="E7E8D1"/>
                </a:solidFill>
                <a:latin typeface="Calibri" pitchFamily="34" charset="0"/>
                <a:ea typeface="Calibri" pitchFamily="34" charset="-122"/>
                <a:cs typeface="Calibri" pitchFamily="34" charset="-120"/>
              </a:rPr>
              <a:t>Reproducibilidad</a:t>
            </a:r>
            <a:r>
              <a:rPr lang="en-US" sz="1700" i="1" dirty="0">
                <a:solidFill>
                  <a:srgbClr val="E7E8D1"/>
                </a:solidFill>
                <a:latin typeface="Calibri" pitchFamily="34" charset="0"/>
                <a:ea typeface="Calibri" pitchFamily="34" charset="-122"/>
                <a:cs typeface="Calibri" pitchFamily="34" charset="-120"/>
              </a:rPr>
              <a:t>: Holman Ospina  </a:t>
            </a:r>
            <a:br>
              <a:rPr lang="en-US" sz="1700" i="1" dirty="0">
                <a:solidFill>
                  <a:srgbClr val="E7E8D1"/>
                </a:solidFill>
                <a:latin typeface="Calibri" pitchFamily="34" charset="0"/>
                <a:ea typeface="Calibri" pitchFamily="34" charset="-122"/>
                <a:cs typeface="Calibri" pitchFamily="34" charset="-120"/>
              </a:rPr>
            </a:br>
            <a:endParaRPr lang="en-US" sz="1700" dirty="0"/>
          </a:p>
        </p:txBody>
      </p:sp>
      <p:sp>
        <p:nvSpPr>
          <p:cNvPr id="7" name="Text 5"/>
          <p:cNvSpPr txBox="1"/>
          <p:nvPr/>
        </p:nvSpPr>
        <p:spPr>
          <a:xfrm>
            <a:off x="822960" y="5945466"/>
            <a:ext cx="8686800" cy="365760"/>
          </a:xfrm>
          <a:prstGeom prst="rect">
            <a:avLst/>
          </a:prstGeom>
          <a:noFill/>
          <a:ln/>
        </p:spPr>
        <p:txBody>
          <a:bodyPr wrap="square" lIns="0" tIns="0" rIns="0" bIns="0" rtlCol="0" anchor="ctr"/>
          <a:lstStyle/>
          <a:p>
            <a:pPr marL="0" indent="0">
              <a:buNone/>
            </a:pPr>
            <a:r>
              <a:rPr lang="en-US" sz="1200" dirty="0">
                <a:solidFill>
                  <a:srgbClr val="7A6E63"/>
                </a:solidFill>
                <a:latin typeface="Calibri" pitchFamily="34" charset="0"/>
                <a:ea typeface="Calibri" pitchFamily="34" charset="-122"/>
                <a:cs typeface="Calibri" pitchFamily="34" charset="-120"/>
              </a:rPr>
              <a:t>Datos: NASA GISS · Anomalías de temperatura del Hemisferio Norte, 1880–2026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685800"/>
          </a:xfrm>
          <a:prstGeom prst="rect">
            <a:avLst/>
          </a:prstGeom>
          <a:noFill/>
          <a:ln/>
        </p:spPr>
        <p:txBody>
          <a:bodyPr wrap="square" lIns="0" tIns="0" rIns="0" bIns="0" rtlCol="0" anchor="ctr"/>
          <a:lstStyle/>
          <a:p>
            <a:pPr marL="0" indent="0">
              <a:buNone/>
            </a:pPr>
            <a:r>
              <a:rPr lang="en-US" sz="3400" b="1" dirty="0">
                <a:solidFill>
                  <a:srgbClr val="B85042"/>
                </a:solidFill>
                <a:latin typeface="Cambria" pitchFamily="34" charset="0"/>
                <a:ea typeface="Cambria" pitchFamily="34" charset="-122"/>
                <a:cs typeface="Cambria" pitchFamily="34" charset="-120"/>
              </a:rPr>
              <a:t>De dónde venimos</a:t>
            </a:r>
            <a:endParaRPr lang="en-US" sz="3400" dirty="0"/>
          </a:p>
        </p:txBody>
      </p:sp>
      <p:sp>
        <p:nvSpPr>
          <p:cNvPr id="3" name="Text 1"/>
          <p:cNvSpPr txBox="1"/>
          <p:nvPr/>
        </p:nvSpPr>
        <p:spPr>
          <a:xfrm>
            <a:off x="640080" y="1115568"/>
            <a:ext cx="10881360" cy="365760"/>
          </a:xfrm>
          <a:prstGeom prst="rect">
            <a:avLst/>
          </a:prstGeom>
          <a:noFill/>
          <a:ln/>
        </p:spPr>
        <p:txBody>
          <a:bodyPr wrap="square" lIns="0" tIns="0" rIns="0" bIns="0" rtlCol="0" anchor="ctr"/>
          <a:lstStyle/>
          <a:p>
            <a:pPr marL="0" indent="0">
              <a:buNone/>
            </a:pPr>
            <a:r>
              <a:rPr lang="en-US" sz="1500" i="1" dirty="0">
                <a:solidFill>
                  <a:srgbClr val="7A6E63"/>
                </a:solidFill>
                <a:latin typeface="Calibri" pitchFamily="34" charset="0"/>
                <a:ea typeface="Calibri" pitchFamily="34" charset="-122"/>
                <a:cs typeface="Calibri" pitchFamily="34" charset="-120"/>
              </a:rPr>
              <a:t>Lo que ya estableció el análisis previo (preguntas 1.2.1 a 1.2.4)</a:t>
            </a:r>
            <a:endParaRPr lang="en-US" sz="1500" dirty="0"/>
          </a:p>
        </p:txBody>
      </p:sp>
      <p:sp>
        <p:nvSpPr>
          <p:cNvPr id="4" name="Shape 2"/>
          <p:cNvSpPr/>
          <p:nvPr/>
        </p:nvSpPr>
        <p:spPr>
          <a:xfrm>
            <a:off x="640080" y="1737360"/>
            <a:ext cx="5257800" cy="2743200"/>
          </a:xfrm>
          <a:prstGeom prst="roundRect">
            <a:avLst>
              <a:gd name="adj" fmla="val 2667"/>
            </a:avLst>
          </a:prstGeom>
          <a:solidFill>
            <a:srgbClr val="E7E8D1"/>
          </a:solidFill>
          <a:ln w="12700">
            <a:solidFill>
              <a:srgbClr val="E7E8D1"/>
            </a:solidFill>
            <a:prstDash val="solid"/>
          </a:ln>
        </p:spPr>
        <p:txBody>
          <a:bodyPr/>
          <a:lstStyle/>
          <a:p>
            <a:endParaRPr lang="es-CO"/>
          </a:p>
        </p:txBody>
      </p:sp>
      <p:sp>
        <p:nvSpPr>
          <p:cNvPr id="5" name="Text 3"/>
          <p:cNvSpPr txBox="1"/>
          <p:nvPr/>
        </p:nvSpPr>
        <p:spPr>
          <a:xfrm>
            <a:off x="960120" y="2011680"/>
            <a:ext cx="4617720" cy="457200"/>
          </a:xfrm>
          <a:prstGeom prst="rect">
            <a:avLst/>
          </a:prstGeom>
          <a:noFill/>
          <a:ln/>
        </p:spPr>
        <p:txBody>
          <a:bodyPr wrap="square" lIns="0" tIns="0" rIns="0" bIns="0" rtlCol="0" anchor="ctr"/>
          <a:lstStyle/>
          <a:p>
            <a:pPr marL="0" indent="0">
              <a:buNone/>
            </a:pPr>
            <a:r>
              <a:rPr lang="en-US" sz="2100" b="1" dirty="0">
                <a:solidFill>
                  <a:srgbClr val="3A3129"/>
                </a:solidFill>
                <a:latin typeface="Cambria" pitchFamily="34" charset="0"/>
                <a:ea typeface="Cambria" pitchFamily="34" charset="-122"/>
                <a:cs typeface="Cambria" pitchFamily="34" charset="-120"/>
              </a:rPr>
              <a:t>La distribución se corrió</a:t>
            </a:r>
            <a:endParaRPr lang="en-US" sz="2100" dirty="0"/>
          </a:p>
        </p:txBody>
      </p:sp>
      <p:sp>
        <p:nvSpPr>
          <p:cNvPr id="6" name="Text 4"/>
          <p:cNvSpPr txBox="1"/>
          <p:nvPr/>
        </p:nvSpPr>
        <p:spPr>
          <a:xfrm>
            <a:off x="960120" y="2560320"/>
            <a:ext cx="4617720" cy="1645920"/>
          </a:xfrm>
          <a:prstGeom prst="rect">
            <a:avLst/>
          </a:prstGeom>
          <a:noFill/>
          <a:ln/>
        </p:spPr>
        <p:txBody>
          <a:bodyPr wrap="square" lIns="0" tIns="0" rIns="0" bIns="0" rtlCol="0" anchor="ctr"/>
          <a:lstStyle/>
          <a:p>
            <a:pPr marL="0" indent="0">
              <a:lnSpc>
                <a:spcPts val="2000"/>
              </a:lnSpc>
              <a:buNone/>
            </a:pPr>
            <a:r>
              <a:rPr lang="en-US" sz="1400" dirty="0">
                <a:solidFill>
                  <a:srgbClr val="3A3129"/>
                </a:solidFill>
                <a:latin typeface="Calibri" pitchFamily="34" charset="0"/>
                <a:ea typeface="Calibri" pitchFamily="34" charset="-122"/>
                <a:cs typeface="Calibri" pitchFamily="34" charset="-120"/>
              </a:rPr>
              <a:t>Comparando 1951–1980 contra 1981–2010, la forma se mantiene — sigue siendo una sola distribución central — pero toda se desplazó hacia valores más cálidos. Los meses fríos casi desaparecen.</a:t>
            </a:r>
            <a:endParaRPr lang="en-US" sz="1400" dirty="0"/>
          </a:p>
        </p:txBody>
      </p:sp>
      <p:sp>
        <p:nvSpPr>
          <p:cNvPr id="7" name="Shape 5"/>
          <p:cNvSpPr/>
          <p:nvPr/>
        </p:nvSpPr>
        <p:spPr>
          <a:xfrm>
            <a:off x="6263640" y="1737360"/>
            <a:ext cx="5257800" cy="2743200"/>
          </a:xfrm>
          <a:prstGeom prst="roundRect">
            <a:avLst>
              <a:gd name="adj" fmla="val 2667"/>
            </a:avLst>
          </a:prstGeom>
          <a:solidFill>
            <a:srgbClr val="B85042"/>
          </a:solidFill>
          <a:ln w="12700">
            <a:solidFill>
              <a:srgbClr val="B85042"/>
            </a:solidFill>
            <a:prstDash val="solid"/>
          </a:ln>
        </p:spPr>
        <p:txBody>
          <a:bodyPr/>
          <a:lstStyle/>
          <a:p>
            <a:endParaRPr lang="es-CO"/>
          </a:p>
        </p:txBody>
      </p:sp>
      <p:sp>
        <p:nvSpPr>
          <p:cNvPr id="8" name="Text 6"/>
          <p:cNvSpPr txBox="1"/>
          <p:nvPr/>
        </p:nvSpPr>
        <p:spPr>
          <a:xfrm>
            <a:off x="6263640" y="1965960"/>
            <a:ext cx="5257800" cy="914400"/>
          </a:xfrm>
          <a:prstGeom prst="rect">
            <a:avLst/>
          </a:prstGeom>
          <a:noFill/>
          <a:ln/>
        </p:spPr>
        <p:txBody>
          <a:bodyPr wrap="square" lIns="0" tIns="0" rIns="0" bIns="0" rtlCol="0" anchor="ctr"/>
          <a:lstStyle/>
          <a:p>
            <a:pPr marL="0" indent="0" algn="ctr">
              <a:buNone/>
            </a:pPr>
            <a:r>
              <a:rPr lang="en-US" sz="5200" b="1" dirty="0">
                <a:solidFill>
                  <a:srgbClr val="FFFFFF"/>
                </a:solidFill>
                <a:latin typeface="Cambria" pitchFamily="34" charset="0"/>
                <a:ea typeface="Cambria" pitchFamily="34" charset="-122"/>
                <a:cs typeface="Cambria" pitchFamily="34" charset="-120"/>
              </a:rPr>
              <a:t>84.44%</a:t>
            </a:r>
            <a:endParaRPr lang="en-US" sz="5200" dirty="0"/>
          </a:p>
        </p:txBody>
      </p:sp>
      <p:sp>
        <p:nvSpPr>
          <p:cNvPr id="9" name="Text 7"/>
          <p:cNvSpPr txBox="1"/>
          <p:nvPr/>
        </p:nvSpPr>
        <p:spPr>
          <a:xfrm>
            <a:off x="6720840" y="2971800"/>
            <a:ext cx="4343400" cy="1280160"/>
          </a:xfrm>
          <a:prstGeom prst="rect">
            <a:avLst/>
          </a:prstGeom>
          <a:noFill/>
          <a:ln/>
        </p:spPr>
        <p:txBody>
          <a:bodyPr wrap="square" lIns="0" tIns="0" rIns="0" bIns="0" rtlCol="0" anchor="ctr"/>
          <a:lstStyle/>
          <a:p>
            <a:pPr marL="0" indent="0" algn="ctr">
              <a:lnSpc>
                <a:spcPts val="2000"/>
              </a:lnSpc>
              <a:buNone/>
            </a:pPr>
            <a:r>
              <a:rPr lang="en-US" sz="1400" dirty="0">
                <a:solidFill>
                  <a:srgbClr val="E7E8D1"/>
                </a:solidFill>
                <a:latin typeface="Calibri" pitchFamily="34" charset="0"/>
                <a:ea typeface="Calibri" pitchFamily="34" charset="-122"/>
                <a:cs typeface="Calibri" pitchFamily="34" charset="-120"/>
              </a:rPr>
              <a:t>de los meses de 1981–2010 superan el umbral “caliente” del período base — cuando por definición solo el 30% debería superarlo si nada hubiera cambiado.</a:t>
            </a:r>
            <a:endParaRPr lang="en-US" sz="1400" dirty="0"/>
          </a:p>
        </p:txBody>
      </p:sp>
      <p:sp>
        <p:nvSpPr>
          <p:cNvPr id="10" name="Shape 8"/>
          <p:cNvSpPr/>
          <p:nvPr/>
        </p:nvSpPr>
        <p:spPr>
          <a:xfrm>
            <a:off x="640080" y="4800600"/>
            <a:ext cx="10881360" cy="777240"/>
          </a:xfrm>
          <a:prstGeom prst="roundRect">
            <a:avLst>
              <a:gd name="adj" fmla="val 9412"/>
            </a:avLst>
          </a:prstGeom>
          <a:solidFill>
            <a:srgbClr val="F4F2ED"/>
          </a:solidFill>
          <a:ln w="12700">
            <a:solidFill>
              <a:srgbClr val="E0DBD2"/>
            </a:solidFill>
            <a:prstDash val="solid"/>
          </a:ln>
        </p:spPr>
        <p:txBody>
          <a:bodyPr/>
          <a:lstStyle/>
          <a:p>
            <a:endParaRPr lang="es-CO"/>
          </a:p>
        </p:txBody>
      </p:sp>
      <p:sp>
        <p:nvSpPr>
          <p:cNvPr id="11" name="Text 9"/>
          <p:cNvSpPr txBox="1"/>
          <p:nvPr/>
        </p:nvSpPr>
        <p:spPr>
          <a:xfrm>
            <a:off x="960120" y="4800600"/>
            <a:ext cx="10241280" cy="777240"/>
          </a:xfrm>
          <a:prstGeom prst="rect">
            <a:avLst/>
          </a:prstGeom>
          <a:noFill/>
          <a:ln/>
        </p:spPr>
        <p:txBody>
          <a:bodyPr wrap="square" lIns="0" tIns="0" rIns="0" bIns="0" rtlCol="0" anchor="ctr"/>
          <a:lstStyle/>
          <a:p>
            <a:pPr marL="0" indent="0">
              <a:buNone/>
            </a:pPr>
            <a:r>
              <a:rPr lang="en-US" sz="1500" b="1" i="1" dirty="0">
                <a:solidFill>
                  <a:srgbClr val="B85042"/>
                </a:solidFill>
                <a:latin typeface="Calibri" pitchFamily="34" charset="0"/>
                <a:ea typeface="Calibri" pitchFamily="34" charset="-122"/>
                <a:cs typeface="Calibri" pitchFamily="34" charset="-120"/>
              </a:rPr>
              <a:t>Con eso claro, mi parte responde: ¿y la variabilidad? ¿Qué le recomendamos al Estado?</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685800"/>
          </a:xfrm>
          <a:prstGeom prst="rect">
            <a:avLst/>
          </a:prstGeom>
          <a:noFill/>
          <a:ln/>
        </p:spPr>
        <p:txBody>
          <a:bodyPr wrap="square" lIns="0" tIns="0" rIns="0" bIns="0" rtlCol="0" anchor="ctr"/>
          <a:lstStyle/>
          <a:p>
            <a:pPr marL="0" indent="0">
              <a:buNone/>
            </a:pPr>
            <a:r>
              <a:rPr lang="en-US" sz="3400" b="1" dirty="0">
                <a:solidFill>
                  <a:srgbClr val="B85042"/>
                </a:solidFill>
                <a:latin typeface="Cambria" pitchFamily="34" charset="0"/>
                <a:ea typeface="Cambria" pitchFamily="34" charset="-122"/>
                <a:cs typeface="Cambria" pitchFamily="34" charset="-120"/>
              </a:rPr>
              <a:t>1.2.5 · ¿</a:t>
            </a:r>
            <a:r>
              <a:rPr lang="en-US" sz="3400" b="1" dirty="0" err="1">
                <a:solidFill>
                  <a:srgbClr val="B85042"/>
                </a:solidFill>
                <a:latin typeface="Cambria" pitchFamily="34" charset="0"/>
                <a:ea typeface="Cambria" pitchFamily="34" charset="-122"/>
                <a:cs typeface="Cambria" pitchFamily="34" charset="-120"/>
              </a:rPr>
              <a:t>Cómo</a:t>
            </a:r>
            <a:r>
              <a:rPr lang="en-US" sz="3400" b="1" dirty="0">
                <a:solidFill>
                  <a:srgbClr val="B85042"/>
                </a:solidFill>
                <a:latin typeface="Cambria" pitchFamily="34" charset="0"/>
                <a:ea typeface="Cambria" pitchFamily="34" charset="-122"/>
                <a:cs typeface="Cambria" pitchFamily="34" charset="-120"/>
              </a:rPr>
              <a:t> medimos la </a:t>
            </a:r>
            <a:r>
              <a:rPr lang="en-US" sz="3400" b="1" dirty="0" err="1">
                <a:solidFill>
                  <a:srgbClr val="B85042"/>
                </a:solidFill>
                <a:latin typeface="Cambria" pitchFamily="34" charset="0"/>
                <a:ea typeface="Cambria" pitchFamily="34" charset="-122"/>
                <a:cs typeface="Cambria" pitchFamily="34" charset="-120"/>
              </a:rPr>
              <a:t>variabilidad</a:t>
            </a:r>
            <a:r>
              <a:rPr lang="en-US" sz="3400" b="1" dirty="0">
                <a:solidFill>
                  <a:srgbClr val="B85042"/>
                </a:solidFill>
                <a:latin typeface="Cambria" pitchFamily="34" charset="0"/>
                <a:ea typeface="Cambria" pitchFamily="34" charset="-122"/>
                <a:cs typeface="Cambria" pitchFamily="34" charset="-120"/>
              </a:rPr>
              <a:t>?</a:t>
            </a:r>
            <a:endParaRPr lang="en-US" sz="3400" dirty="0"/>
          </a:p>
        </p:txBody>
      </p:sp>
      <p:sp>
        <p:nvSpPr>
          <p:cNvPr id="3" name="Shape 1"/>
          <p:cNvSpPr/>
          <p:nvPr/>
        </p:nvSpPr>
        <p:spPr>
          <a:xfrm>
            <a:off x="640080" y="1600200"/>
            <a:ext cx="3383280" cy="2926080"/>
          </a:xfrm>
          <a:prstGeom prst="roundRect">
            <a:avLst>
              <a:gd name="adj" fmla="val 2500"/>
            </a:avLst>
          </a:prstGeom>
          <a:solidFill>
            <a:srgbClr val="E7E8D1"/>
          </a:solidFill>
          <a:ln w="12700">
            <a:solidFill>
              <a:srgbClr val="E7E8D1"/>
            </a:solidFill>
            <a:prstDash val="solid"/>
          </a:ln>
        </p:spPr>
        <p:txBody>
          <a:bodyPr/>
          <a:lstStyle/>
          <a:p>
            <a:endParaRPr lang="es-CO"/>
          </a:p>
        </p:txBody>
      </p:sp>
      <p:sp>
        <p:nvSpPr>
          <p:cNvPr id="4" name="Shape 2"/>
          <p:cNvSpPr/>
          <p:nvPr/>
        </p:nvSpPr>
        <p:spPr>
          <a:xfrm>
            <a:off x="932688" y="1920240"/>
            <a:ext cx="566928" cy="566928"/>
          </a:xfrm>
          <a:prstGeom prst="ellipse">
            <a:avLst/>
          </a:prstGeom>
          <a:solidFill>
            <a:srgbClr val="B85042"/>
          </a:solidFill>
          <a:ln/>
        </p:spPr>
        <p:txBody>
          <a:bodyPr/>
          <a:lstStyle/>
          <a:p>
            <a:endParaRPr lang="es-CO"/>
          </a:p>
        </p:txBody>
      </p:sp>
      <p:sp>
        <p:nvSpPr>
          <p:cNvPr id="5" name="Text 3"/>
          <p:cNvSpPr txBox="1"/>
          <p:nvPr/>
        </p:nvSpPr>
        <p:spPr>
          <a:xfrm>
            <a:off x="932688" y="1920240"/>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Text 4"/>
          <p:cNvSpPr txBox="1"/>
          <p:nvPr/>
        </p:nvSpPr>
        <p:spPr>
          <a:xfrm>
            <a:off x="932688" y="2670048"/>
            <a:ext cx="2834640" cy="457200"/>
          </a:xfrm>
          <a:prstGeom prst="rect">
            <a:avLst/>
          </a:prstGeom>
          <a:noFill/>
          <a:ln/>
        </p:spPr>
        <p:txBody>
          <a:bodyPr wrap="square" lIns="0" tIns="0" rIns="0" bIns="0" rtlCol="0" anchor="ctr"/>
          <a:lstStyle/>
          <a:p>
            <a:pPr marL="0" indent="0">
              <a:buNone/>
            </a:pPr>
            <a:r>
              <a:rPr lang="en-US" sz="1800" b="1" dirty="0">
                <a:solidFill>
                  <a:srgbClr val="3A3129"/>
                </a:solidFill>
                <a:latin typeface="Calibri" pitchFamily="34" charset="0"/>
                <a:ea typeface="Calibri" pitchFamily="34" charset="-122"/>
                <a:cs typeface="Calibri" pitchFamily="34" charset="-120"/>
              </a:rPr>
              <a:t>¿</a:t>
            </a:r>
            <a:r>
              <a:rPr lang="en-US" sz="1800" b="1" dirty="0" err="1">
                <a:solidFill>
                  <a:srgbClr val="3A3129"/>
                </a:solidFill>
                <a:latin typeface="Calibri" pitchFamily="34" charset="0"/>
                <a:ea typeface="Calibri" pitchFamily="34" charset="-122"/>
                <a:cs typeface="Calibri" pitchFamily="34" charset="-120"/>
              </a:rPr>
              <a:t>Qué</a:t>
            </a:r>
            <a:r>
              <a:rPr lang="en-US" sz="1800" b="1" dirty="0">
                <a:solidFill>
                  <a:srgbClr val="3A3129"/>
                </a:solidFill>
                <a:latin typeface="Calibri" pitchFamily="34" charset="0"/>
                <a:ea typeface="Calibri" pitchFamily="34" charset="-122"/>
                <a:cs typeface="Calibri" pitchFamily="34" charset="-120"/>
              </a:rPr>
              <a:t> </a:t>
            </a:r>
            <a:r>
              <a:rPr lang="en-US" sz="1800" b="1" dirty="0" err="1">
                <a:solidFill>
                  <a:srgbClr val="3A3129"/>
                </a:solidFill>
                <a:latin typeface="Calibri" pitchFamily="34" charset="0"/>
                <a:ea typeface="Calibri" pitchFamily="34" charset="-122"/>
                <a:cs typeface="Calibri" pitchFamily="34" charset="-120"/>
              </a:rPr>
              <a:t>medimos</a:t>
            </a:r>
            <a:r>
              <a:rPr lang="en-US" sz="1800" b="1" dirty="0">
                <a:solidFill>
                  <a:srgbClr val="3A3129"/>
                </a:solidFill>
                <a:latin typeface="Calibri" pitchFamily="34" charset="0"/>
                <a:ea typeface="Calibri" pitchFamily="34" charset="-122"/>
                <a:cs typeface="Calibri" pitchFamily="34" charset="-120"/>
              </a:rPr>
              <a:t>?</a:t>
            </a:r>
            <a:endParaRPr lang="en-US" sz="1800" dirty="0"/>
          </a:p>
        </p:txBody>
      </p:sp>
      <p:sp>
        <p:nvSpPr>
          <p:cNvPr id="7" name="Text 5"/>
          <p:cNvSpPr txBox="1"/>
          <p:nvPr/>
        </p:nvSpPr>
        <p:spPr>
          <a:xfrm>
            <a:off x="932688" y="3182112"/>
            <a:ext cx="2834640" cy="1234440"/>
          </a:xfrm>
          <a:prstGeom prst="rect">
            <a:avLst/>
          </a:prstGeom>
          <a:noFill/>
          <a:ln/>
        </p:spPr>
        <p:txBody>
          <a:bodyPr wrap="square" lIns="0" tIns="0" rIns="0" bIns="0" rtlCol="0" anchor="ctr"/>
          <a:lstStyle/>
          <a:p>
            <a:pPr marL="0" indent="0">
              <a:lnSpc>
                <a:spcPts val="2000"/>
              </a:lnSpc>
              <a:buNone/>
            </a:pPr>
            <a:r>
              <a:rPr lang="en-US" sz="1400" dirty="0">
                <a:solidFill>
                  <a:srgbClr val="3A3129"/>
                </a:solidFill>
                <a:latin typeface="Calibri" pitchFamily="34" charset="0"/>
                <a:ea typeface="Calibri" pitchFamily="34" charset="-122"/>
                <a:cs typeface="Calibri" pitchFamily="34" charset="-120"/>
              </a:rPr>
              <a:t>La varianza de la anomalía de temperatura — qué tan dispersos están los valores alrededor de su propio promedio.</a:t>
            </a:r>
            <a:endParaRPr lang="en-US" sz="1400" dirty="0"/>
          </a:p>
        </p:txBody>
      </p:sp>
      <p:sp>
        <p:nvSpPr>
          <p:cNvPr id="8" name="Shape 6"/>
          <p:cNvSpPr/>
          <p:nvPr/>
        </p:nvSpPr>
        <p:spPr>
          <a:xfrm>
            <a:off x="4389120" y="1600200"/>
            <a:ext cx="3383280" cy="2926080"/>
          </a:xfrm>
          <a:prstGeom prst="roundRect">
            <a:avLst>
              <a:gd name="adj" fmla="val 2500"/>
            </a:avLst>
          </a:prstGeom>
          <a:solidFill>
            <a:srgbClr val="E7E8D1"/>
          </a:solidFill>
          <a:ln w="12700">
            <a:solidFill>
              <a:srgbClr val="E7E8D1"/>
            </a:solidFill>
            <a:prstDash val="solid"/>
          </a:ln>
        </p:spPr>
        <p:txBody>
          <a:bodyPr/>
          <a:lstStyle/>
          <a:p>
            <a:endParaRPr lang="es-CO"/>
          </a:p>
        </p:txBody>
      </p:sp>
      <p:sp>
        <p:nvSpPr>
          <p:cNvPr id="9" name="Shape 7"/>
          <p:cNvSpPr/>
          <p:nvPr/>
        </p:nvSpPr>
        <p:spPr>
          <a:xfrm>
            <a:off x="4681728" y="1920240"/>
            <a:ext cx="566928" cy="566928"/>
          </a:xfrm>
          <a:prstGeom prst="ellipse">
            <a:avLst/>
          </a:prstGeom>
          <a:solidFill>
            <a:srgbClr val="B85042"/>
          </a:solidFill>
          <a:ln/>
        </p:spPr>
        <p:txBody>
          <a:bodyPr/>
          <a:lstStyle/>
          <a:p>
            <a:endParaRPr lang="es-CO"/>
          </a:p>
        </p:txBody>
      </p:sp>
      <p:sp>
        <p:nvSpPr>
          <p:cNvPr id="10" name="Text 8"/>
          <p:cNvSpPr txBox="1"/>
          <p:nvPr/>
        </p:nvSpPr>
        <p:spPr>
          <a:xfrm>
            <a:off x="4681728" y="1920240"/>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1" name="Text 9"/>
          <p:cNvSpPr txBox="1"/>
          <p:nvPr/>
        </p:nvSpPr>
        <p:spPr>
          <a:xfrm>
            <a:off x="4681728" y="2670048"/>
            <a:ext cx="2834640" cy="457200"/>
          </a:xfrm>
          <a:prstGeom prst="rect">
            <a:avLst/>
          </a:prstGeom>
          <a:noFill/>
          <a:ln/>
        </p:spPr>
        <p:txBody>
          <a:bodyPr wrap="square" lIns="0" tIns="0" rIns="0" bIns="0" rtlCol="0" anchor="ctr"/>
          <a:lstStyle/>
          <a:p>
            <a:pPr marL="0" indent="0">
              <a:buNone/>
            </a:pPr>
            <a:r>
              <a:rPr lang="en-US" sz="1800" b="1" dirty="0">
                <a:solidFill>
                  <a:srgbClr val="3A3129"/>
                </a:solidFill>
                <a:latin typeface="Calibri" pitchFamily="34" charset="0"/>
                <a:ea typeface="Calibri" pitchFamily="34" charset="-122"/>
                <a:cs typeface="Calibri" pitchFamily="34" charset="-120"/>
              </a:rPr>
              <a:t>Por estación</a:t>
            </a:r>
            <a:endParaRPr lang="en-US" sz="1800" dirty="0"/>
          </a:p>
        </p:txBody>
      </p:sp>
      <p:sp>
        <p:nvSpPr>
          <p:cNvPr id="12" name="Text 10"/>
          <p:cNvSpPr txBox="1"/>
          <p:nvPr/>
        </p:nvSpPr>
        <p:spPr>
          <a:xfrm>
            <a:off x="4681728" y="3182112"/>
            <a:ext cx="2834640" cy="1234440"/>
          </a:xfrm>
          <a:prstGeom prst="rect">
            <a:avLst/>
          </a:prstGeom>
          <a:noFill/>
          <a:ln/>
        </p:spPr>
        <p:txBody>
          <a:bodyPr wrap="square" lIns="0" tIns="0" rIns="0" bIns="0" rtlCol="0" anchor="ctr"/>
          <a:lstStyle/>
          <a:p>
            <a:pPr marL="0" indent="0">
              <a:lnSpc>
                <a:spcPts val="2000"/>
              </a:lnSpc>
              <a:buNone/>
            </a:pPr>
            <a:r>
              <a:rPr lang="en-US" sz="1400" dirty="0">
                <a:solidFill>
                  <a:srgbClr val="3A3129"/>
                </a:solidFill>
                <a:latin typeface="Calibri" pitchFamily="34" charset="0"/>
                <a:ea typeface="Calibri" pitchFamily="34" charset="-122"/>
                <a:cs typeface="Calibri" pitchFamily="34" charset="-120"/>
              </a:rPr>
              <a:t>Las cuatro estaciones por separado: DJF (invierno), MAM (primavera), JJA (verano), SON (otoño).</a:t>
            </a:r>
            <a:endParaRPr lang="en-US" sz="1400" dirty="0"/>
          </a:p>
        </p:txBody>
      </p:sp>
      <p:sp>
        <p:nvSpPr>
          <p:cNvPr id="13" name="Shape 11"/>
          <p:cNvSpPr/>
          <p:nvPr/>
        </p:nvSpPr>
        <p:spPr>
          <a:xfrm>
            <a:off x="8138160" y="1600200"/>
            <a:ext cx="3383280" cy="2926080"/>
          </a:xfrm>
          <a:prstGeom prst="roundRect">
            <a:avLst>
              <a:gd name="adj" fmla="val 2500"/>
            </a:avLst>
          </a:prstGeom>
          <a:solidFill>
            <a:srgbClr val="E7E8D1"/>
          </a:solidFill>
          <a:ln w="12700">
            <a:solidFill>
              <a:srgbClr val="E7E8D1"/>
            </a:solidFill>
            <a:prstDash val="solid"/>
          </a:ln>
        </p:spPr>
        <p:txBody>
          <a:bodyPr/>
          <a:lstStyle/>
          <a:p>
            <a:endParaRPr lang="es-CO"/>
          </a:p>
        </p:txBody>
      </p:sp>
      <p:sp>
        <p:nvSpPr>
          <p:cNvPr id="14" name="Shape 12"/>
          <p:cNvSpPr/>
          <p:nvPr/>
        </p:nvSpPr>
        <p:spPr>
          <a:xfrm>
            <a:off x="8430768" y="1920240"/>
            <a:ext cx="566928" cy="566928"/>
          </a:xfrm>
          <a:prstGeom prst="ellipse">
            <a:avLst/>
          </a:prstGeom>
          <a:solidFill>
            <a:srgbClr val="B85042"/>
          </a:solidFill>
          <a:ln/>
        </p:spPr>
        <p:txBody>
          <a:bodyPr/>
          <a:lstStyle/>
          <a:p>
            <a:endParaRPr lang="es-CO"/>
          </a:p>
        </p:txBody>
      </p:sp>
      <p:sp>
        <p:nvSpPr>
          <p:cNvPr id="15" name="Text 13"/>
          <p:cNvSpPr txBox="1"/>
          <p:nvPr/>
        </p:nvSpPr>
        <p:spPr>
          <a:xfrm>
            <a:off x="8430768" y="1920240"/>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6" name="Text 14"/>
          <p:cNvSpPr txBox="1"/>
          <p:nvPr/>
        </p:nvSpPr>
        <p:spPr>
          <a:xfrm>
            <a:off x="8430768" y="2670048"/>
            <a:ext cx="2834640" cy="457200"/>
          </a:xfrm>
          <a:prstGeom prst="rect">
            <a:avLst/>
          </a:prstGeom>
          <a:noFill/>
          <a:ln/>
        </p:spPr>
        <p:txBody>
          <a:bodyPr wrap="square" lIns="0" tIns="0" rIns="0" bIns="0" rtlCol="0" anchor="ctr"/>
          <a:lstStyle/>
          <a:p>
            <a:pPr marL="0" indent="0">
              <a:buNone/>
            </a:pPr>
            <a:r>
              <a:rPr lang="en-US" sz="1800" b="1" dirty="0">
                <a:solidFill>
                  <a:srgbClr val="3A3129"/>
                </a:solidFill>
                <a:latin typeface="Calibri" pitchFamily="34" charset="0"/>
                <a:ea typeface="Calibri" pitchFamily="34" charset="-122"/>
                <a:cs typeface="Calibri" pitchFamily="34" charset="-120"/>
              </a:rPr>
              <a:t>Tres períodos</a:t>
            </a:r>
            <a:endParaRPr lang="en-US" sz="1800" dirty="0"/>
          </a:p>
        </p:txBody>
      </p:sp>
      <p:sp>
        <p:nvSpPr>
          <p:cNvPr id="17" name="Text 15"/>
          <p:cNvSpPr txBox="1"/>
          <p:nvPr/>
        </p:nvSpPr>
        <p:spPr>
          <a:xfrm>
            <a:off x="8430768" y="3182112"/>
            <a:ext cx="2834640" cy="1234440"/>
          </a:xfrm>
          <a:prstGeom prst="rect">
            <a:avLst/>
          </a:prstGeom>
          <a:noFill/>
          <a:ln/>
        </p:spPr>
        <p:txBody>
          <a:bodyPr wrap="square" lIns="0" tIns="0" rIns="0" bIns="0" rtlCol="0" anchor="ctr"/>
          <a:lstStyle/>
          <a:p>
            <a:pPr marL="0" indent="0">
              <a:lnSpc>
                <a:spcPts val="2000"/>
              </a:lnSpc>
              <a:buNone/>
            </a:pPr>
            <a:r>
              <a:rPr lang="en-US" sz="1400" dirty="0">
                <a:solidFill>
                  <a:srgbClr val="3A3129"/>
                </a:solidFill>
                <a:latin typeface="Calibri" pitchFamily="34" charset="0"/>
                <a:ea typeface="Calibri" pitchFamily="34" charset="-122"/>
                <a:cs typeface="Calibri" pitchFamily="34" charset="-120"/>
              </a:rPr>
              <a:t>1921–1950, 1951–1980 (base) y 1981–2010, para ver si el cambio es reciente o venía de antes.</a:t>
            </a:r>
            <a:endParaRPr lang="en-US" sz="1400" dirty="0"/>
          </a:p>
        </p:txBody>
      </p:sp>
      <p:sp>
        <p:nvSpPr>
          <p:cNvPr id="18" name="Text 16"/>
          <p:cNvSpPr txBox="1"/>
          <p:nvPr/>
        </p:nvSpPr>
        <p:spPr>
          <a:xfrm>
            <a:off x="640080" y="4846320"/>
            <a:ext cx="10881360" cy="365760"/>
          </a:xfrm>
          <a:prstGeom prst="rect">
            <a:avLst/>
          </a:prstGeom>
          <a:noFill/>
          <a:ln/>
        </p:spPr>
        <p:txBody>
          <a:bodyPr wrap="square" lIns="0" tIns="0" rIns="0" bIns="0" rtlCol="0" anchor="ctr"/>
          <a:lstStyle/>
          <a:p>
            <a:pPr marL="0" indent="0">
              <a:buNone/>
            </a:pPr>
            <a:r>
              <a:rPr lang="en-US" sz="1500" i="1" dirty="0">
                <a:solidFill>
                  <a:srgbClr val="B85042"/>
                </a:solidFill>
                <a:latin typeface="Calibri" pitchFamily="34" charset="0"/>
                <a:ea typeface="Calibri" pitchFamily="34" charset="-122"/>
                <a:cs typeface="Calibri" pitchFamily="34" charset="-120"/>
              </a:rPr>
              <a:t>Una varianza más alta significa temperaturas menos predecibles mes a mes — no necesariamente más altas.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685800"/>
          </a:xfrm>
          <a:prstGeom prst="rect">
            <a:avLst/>
          </a:prstGeom>
          <a:noFill/>
          <a:ln/>
        </p:spPr>
        <p:txBody>
          <a:bodyPr wrap="square" lIns="0" tIns="0" rIns="0" bIns="0" rtlCol="0" anchor="ctr"/>
          <a:lstStyle/>
          <a:p>
            <a:pPr marL="0" indent="0">
              <a:buNone/>
            </a:pPr>
            <a:r>
              <a:rPr lang="en-US" sz="3400" b="1" dirty="0">
                <a:solidFill>
                  <a:srgbClr val="B85042"/>
                </a:solidFill>
                <a:latin typeface="Cambria" pitchFamily="34" charset="0"/>
                <a:ea typeface="Cambria" pitchFamily="34" charset="-122"/>
                <a:cs typeface="Cambria" pitchFamily="34" charset="-120"/>
              </a:rPr>
              <a:t>1.2.5 · La varianza sube en las cuatro estaciones</a:t>
            </a:r>
            <a:endParaRPr lang="en-US" sz="3400" dirty="0"/>
          </a:p>
        </p:txBody>
      </p:sp>
      <p:graphicFrame>
        <p:nvGraphicFramePr>
          <p:cNvPr id="3" name="Chart 0"/>
          <p:cNvGraphicFramePr/>
          <p:nvPr>
            <p:extLst>
              <p:ext uri="{D42A27DB-BD31-4B8C-83A1-F6EECF244321}">
                <p14:modId xmlns:p14="http://schemas.microsoft.com/office/powerpoint/2010/main" val="3902473321"/>
              </p:ext>
            </p:extLst>
          </p:nvPr>
        </p:nvGraphicFramePr>
        <p:xfrm>
          <a:off x="649411" y="1380931"/>
          <a:ext cx="731520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4" name="Shape 1"/>
          <p:cNvSpPr/>
          <p:nvPr/>
        </p:nvSpPr>
        <p:spPr>
          <a:xfrm>
            <a:off x="8229600" y="1371600"/>
            <a:ext cx="3291840" cy="3566160"/>
          </a:xfrm>
          <a:prstGeom prst="roundRect">
            <a:avLst>
              <a:gd name="adj" fmla="val 2222"/>
            </a:avLst>
          </a:prstGeom>
          <a:solidFill>
            <a:srgbClr val="E7E8D1"/>
          </a:solidFill>
          <a:ln w="12700">
            <a:solidFill>
              <a:srgbClr val="E7E8D1"/>
            </a:solidFill>
            <a:prstDash val="solid"/>
          </a:ln>
        </p:spPr>
        <p:txBody>
          <a:bodyPr/>
          <a:lstStyle/>
          <a:p>
            <a:endParaRPr lang="es-CO"/>
          </a:p>
        </p:txBody>
      </p:sp>
      <p:sp>
        <p:nvSpPr>
          <p:cNvPr id="5" name="Text 2"/>
          <p:cNvSpPr txBox="1"/>
          <p:nvPr/>
        </p:nvSpPr>
        <p:spPr>
          <a:xfrm>
            <a:off x="8503920" y="1691640"/>
            <a:ext cx="2743200" cy="3017520"/>
          </a:xfrm>
          <a:prstGeom prst="rect">
            <a:avLst/>
          </a:prstGeom>
          <a:noFill/>
          <a:ln/>
        </p:spPr>
        <p:txBody>
          <a:bodyPr wrap="square" lIns="0" tIns="0" rIns="0" bIns="0" rtlCol="0" anchor="ctr"/>
          <a:lstStyle/>
          <a:p>
            <a:pPr marL="0" indent="0">
              <a:lnSpc>
                <a:spcPts val="1900"/>
              </a:lnSpc>
              <a:buNone/>
            </a:pPr>
            <a:r>
              <a:rPr lang="en-US" sz="1800" b="1" dirty="0">
                <a:solidFill>
                  <a:srgbClr val="B85042"/>
                </a:solidFill>
                <a:latin typeface="Calibri" pitchFamily="34" charset="0"/>
                <a:ea typeface="Calibri" pitchFamily="34" charset="-122"/>
                <a:cs typeface="Calibri" pitchFamily="34" charset="-120"/>
              </a:rPr>
              <a:t>Sin excepción</a:t>
            </a:r>
            <a:endParaRPr lang="en-US" sz="1800" dirty="0"/>
          </a:p>
          <a:p>
            <a:pPr marL="0" indent="0">
              <a:lnSpc>
                <a:spcPts val="1900"/>
              </a:lnSpc>
              <a:buNone/>
            </a:pPr>
            <a:r>
              <a:rPr lang="en-US" sz="800" dirty="0">
                <a:solidFill>
                  <a:srgbClr val="000000"/>
                </a:solidFill>
                <a:latin typeface="Calibri" pitchFamily="34" charset="0"/>
                <a:ea typeface="Calibri" pitchFamily="34" charset="-122"/>
                <a:cs typeface="Calibri" pitchFamily="34" charset="-120"/>
              </a:rPr>
              <a:t>
</a:t>
            </a:r>
            <a:endParaRPr lang="en-US" sz="1800" dirty="0"/>
          </a:p>
          <a:p>
            <a:pPr marL="0" indent="0">
              <a:lnSpc>
                <a:spcPts val="1900"/>
              </a:lnSpc>
              <a:buNone/>
            </a:pPr>
            <a:r>
              <a:rPr lang="en-US" sz="1400" dirty="0">
                <a:solidFill>
                  <a:srgbClr val="3A3129"/>
                </a:solidFill>
                <a:latin typeface="Calibri" pitchFamily="34" charset="0"/>
                <a:ea typeface="Calibri" pitchFamily="34" charset="-122"/>
                <a:cs typeface="Calibri" pitchFamily="34" charset="-120"/>
              </a:rPr>
              <a:t>En las cuatro estaciones la varianza sube entre el período base y el reciente.</a:t>
            </a:r>
            <a:endParaRPr lang="en-US" sz="1800" dirty="0"/>
          </a:p>
          <a:p>
            <a:pPr marL="0" indent="0">
              <a:lnSpc>
                <a:spcPts val="1900"/>
              </a:lnSpc>
              <a:buNone/>
            </a:pPr>
            <a:r>
              <a:rPr lang="en-US" sz="1000" dirty="0">
                <a:solidFill>
                  <a:srgbClr val="000000"/>
                </a:solidFill>
                <a:latin typeface="Calibri" pitchFamily="34" charset="0"/>
                <a:ea typeface="Calibri" pitchFamily="34" charset="-122"/>
                <a:cs typeface="Calibri" pitchFamily="34" charset="-120"/>
              </a:rPr>
              <a:t>
</a:t>
            </a:r>
            <a:endParaRPr lang="en-US" sz="1800" dirty="0"/>
          </a:p>
          <a:p>
            <a:pPr marL="0" indent="0">
              <a:lnSpc>
                <a:spcPts val="1900"/>
              </a:lnSpc>
              <a:buNone/>
            </a:pPr>
            <a:r>
              <a:rPr lang="en-US" sz="1400" b="1" dirty="0">
                <a:solidFill>
                  <a:srgbClr val="3A3129"/>
                </a:solidFill>
                <a:latin typeface="Calibri" pitchFamily="34" charset="0"/>
                <a:ea typeface="Calibri" pitchFamily="34" charset="-122"/>
                <a:cs typeface="Calibri" pitchFamily="34" charset="-120"/>
              </a:rPr>
              <a:t>JJA casi se cuadruplica</a:t>
            </a:r>
            <a:endParaRPr lang="en-US" sz="1800" dirty="0"/>
          </a:p>
          <a:p>
            <a:pPr marL="0" indent="0">
              <a:lnSpc>
                <a:spcPts val="1900"/>
              </a:lnSpc>
              <a:buNone/>
            </a:pPr>
            <a:r>
              <a:rPr lang="en-US" sz="1900" b="1" dirty="0">
                <a:solidFill>
                  <a:srgbClr val="B85042"/>
                </a:solidFill>
                <a:latin typeface="Calibri" pitchFamily="34" charset="0"/>
                <a:ea typeface="Calibri" pitchFamily="34" charset="-122"/>
                <a:cs typeface="Calibri" pitchFamily="34" charset="-120"/>
              </a:rPr>
              <a:t>0.0145  →  0.0682</a:t>
            </a:r>
            <a:endParaRPr lang="en-US" sz="1800" dirty="0"/>
          </a:p>
          <a:p>
            <a:pPr marL="0" indent="0">
              <a:lnSpc>
                <a:spcPts val="1900"/>
              </a:lnSpc>
              <a:buNone/>
            </a:pPr>
            <a:r>
              <a:rPr lang="en-US" sz="1000" dirty="0">
                <a:solidFill>
                  <a:srgbClr val="000000"/>
                </a:solidFill>
                <a:latin typeface="Calibri" pitchFamily="34" charset="0"/>
                <a:ea typeface="Calibri" pitchFamily="34" charset="-122"/>
                <a:cs typeface="Calibri" pitchFamily="34" charset="-120"/>
              </a:rPr>
              <a:t>
</a:t>
            </a:r>
            <a:endParaRPr lang="en-US" sz="1800" dirty="0"/>
          </a:p>
          <a:p>
            <a:pPr marL="0" indent="0">
              <a:lnSpc>
                <a:spcPts val="1900"/>
              </a:lnSpc>
              <a:buNone/>
            </a:pPr>
            <a:r>
              <a:rPr lang="en-US" sz="1400" dirty="0">
                <a:solidFill>
                  <a:srgbClr val="3A3129"/>
                </a:solidFill>
                <a:latin typeface="Calibri" pitchFamily="34" charset="0"/>
                <a:ea typeface="Calibri" pitchFamily="34" charset="-122"/>
                <a:cs typeface="Calibri" pitchFamily="34" charset="-120"/>
              </a:rPr>
              <a:t>SON es la más alta del período reciente: 0.1114</a:t>
            </a:r>
            <a:endParaRPr lang="en-US" sz="1800" dirty="0"/>
          </a:p>
        </p:txBody>
      </p:sp>
      <p:sp>
        <p:nvSpPr>
          <p:cNvPr id="6" name="Text 3"/>
          <p:cNvSpPr txBox="1"/>
          <p:nvPr/>
        </p:nvSpPr>
        <p:spPr>
          <a:xfrm>
            <a:off x="640080" y="5074920"/>
            <a:ext cx="10881360" cy="320040"/>
          </a:xfrm>
          <a:prstGeom prst="rect">
            <a:avLst/>
          </a:prstGeom>
          <a:noFill/>
          <a:ln/>
        </p:spPr>
        <p:txBody>
          <a:bodyPr wrap="square" lIns="0" tIns="0" rIns="0" bIns="0" rtlCol="0" anchor="ctr"/>
          <a:lstStyle/>
          <a:p>
            <a:pPr marL="0" indent="0">
              <a:buNone/>
            </a:pPr>
            <a:r>
              <a:rPr lang="en-US" sz="1100" i="1" dirty="0">
                <a:solidFill>
                  <a:srgbClr val="7A6E63"/>
                </a:solidFill>
                <a:latin typeface="Calibri" pitchFamily="34" charset="0"/>
                <a:ea typeface="Calibri" pitchFamily="34" charset="-122"/>
                <a:cs typeface="Calibri" pitchFamily="34" charset="-120"/>
              </a:rPr>
              <a:t>Fuente: Resultados/1_2_5_media_varianza.csv — generado por taller5_clima.py</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B2118"/>
        </a:solidFill>
        <a:effectLst/>
      </p:bgPr>
    </p:bg>
    <p:spTree>
      <p:nvGrpSpPr>
        <p:cNvPr id="1" name=""/>
        <p:cNvGrpSpPr/>
        <p:nvPr/>
      </p:nvGrpSpPr>
      <p:grpSpPr>
        <a:xfrm>
          <a:off x="0" y="0"/>
          <a:ext cx="0" cy="0"/>
          <a:chOff x="0" y="0"/>
          <a:chExt cx="0" cy="0"/>
        </a:xfrm>
      </p:grpSpPr>
      <p:sp>
        <p:nvSpPr>
          <p:cNvPr id="2" name="Text 0"/>
          <p:cNvSpPr txBox="1"/>
          <p:nvPr/>
        </p:nvSpPr>
        <p:spPr>
          <a:xfrm>
            <a:off x="822960" y="685800"/>
            <a:ext cx="10515600" cy="68580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¿Por qué la varianza importa para la </a:t>
            </a:r>
            <a:r>
              <a:rPr lang="en-US" sz="3200" b="1" dirty="0" err="1">
                <a:solidFill>
                  <a:srgbClr val="FFFFFF"/>
                </a:solidFill>
                <a:latin typeface="Cambria" pitchFamily="34" charset="0"/>
                <a:ea typeface="Cambria" pitchFamily="34" charset="-122"/>
                <a:cs typeface="Cambria" pitchFamily="34" charset="-120"/>
              </a:rPr>
              <a:t>política</a:t>
            </a:r>
            <a:r>
              <a:rPr lang="en-US" sz="3200" b="1" dirty="0">
                <a:solidFill>
                  <a:srgbClr val="FFFFFF"/>
                </a:solidFill>
                <a:latin typeface="Cambria" pitchFamily="34" charset="0"/>
                <a:ea typeface="Cambria" pitchFamily="34" charset="-122"/>
                <a:cs typeface="Cambria" pitchFamily="34" charset="-120"/>
              </a:rPr>
              <a:t> </a:t>
            </a:r>
            <a:r>
              <a:rPr lang="en-US" sz="3200" b="1" dirty="0" err="1">
                <a:solidFill>
                  <a:srgbClr val="FFFFFF"/>
                </a:solidFill>
                <a:latin typeface="Cambria" pitchFamily="34" charset="0"/>
                <a:ea typeface="Cambria" pitchFamily="34" charset="-122"/>
                <a:cs typeface="Cambria" pitchFamily="34" charset="-120"/>
              </a:rPr>
              <a:t>pública</a:t>
            </a:r>
            <a:r>
              <a:rPr lang="en-US" sz="3200" b="1" dirty="0">
                <a:solidFill>
                  <a:srgbClr val="FFFFFF"/>
                </a:solidFill>
                <a:latin typeface="Cambria" pitchFamily="34" charset="0"/>
                <a:ea typeface="Cambria" pitchFamily="34" charset="-122"/>
                <a:cs typeface="Cambria" pitchFamily="34" charset="-120"/>
              </a:rPr>
              <a:t>?</a:t>
            </a:r>
            <a:endParaRPr lang="en-US" sz="3200" dirty="0"/>
          </a:p>
        </p:txBody>
      </p:sp>
      <p:sp>
        <p:nvSpPr>
          <p:cNvPr id="3" name="Text 1"/>
          <p:cNvSpPr txBox="1"/>
          <p:nvPr/>
        </p:nvSpPr>
        <p:spPr>
          <a:xfrm>
            <a:off x="822960" y="1371600"/>
            <a:ext cx="10515600" cy="365760"/>
          </a:xfrm>
          <a:prstGeom prst="rect">
            <a:avLst/>
          </a:prstGeom>
          <a:noFill/>
          <a:ln/>
        </p:spPr>
        <p:txBody>
          <a:bodyPr wrap="square" lIns="0" tIns="0" rIns="0" bIns="0" rtlCol="0" anchor="ctr"/>
          <a:lstStyle/>
          <a:p>
            <a:pPr marL="0" indent="0">
              <a:buNone/>
            </a:pPr>
            <a:r>
              <a:rPr lang="en-US" sz="1600" i="1" dirty="0">
                <a:solidFill>
                  <a:srgbClr val="E7E8D1"/>
                </a:solidFill>
                <a:latin typeface="Calibri" pitchFamily="34" charset="0"/>
                <a:ea typeface="Calibri" pitchFamily="34" charset="-122"/>
                <a:cs typeface="Calibri" pitchFamily="34" charset="-120"/>
              </a:rPr>
              <a:t>Un promedio más alto se planea. Un rango más ancho, no.</a:t>
            </a:r>
            <a:endParaRPr lang="en-US" sz="1600" dirty="0"/>
          </a:p>
        </p:txBody>
      </p:sp>
      <p:sp>
        <p:nvSpPr>
          <p:cNvPr id="4" name="Shape 2"/>
          <p:cNvSpPr/>
          <p:nvPr/>
        </p:nvSpPr>
        <p:spPr>
          <a:xfrm>
            <a:off x="914400" y="2377440"/>
            <a:ext cx="411480" cy="411480"/>
          </a:xfrm>
          <a:prstGeom prst="ellipse">
            <a:avLst/>
          </a:prstGeom>
          <a:solidFill>
            <a:srgbClr val="A7BEAE"/>
          </a:solidFill>
          <a:ln/>
        </p:spPr>
        <p:txBody>
          <a:bodyPr/>
          <a:lstStyle/>
          <a:p>
            <a:endParaRPr lang="es-CO"/>
          </a:p>
        </p:txBody>
      </p:sp>
      <p:sp>
        <p:nvSpPr>
          <p:cNvPr id="5" name="Text 3"/>
          <p:cNvSpPr txBox="1"/>
          <p:nvPr/>
        </p:nvSpPr>
        <p:spPr>
          <a:xfrm>
            <a:off x="914400" y="2377440"/>
            <a:ext cx="411480" cy="411480"/>
          </a:xfrm>
          <a:prstGeom prst="rect">
            <a:avLst/>
          </a:prstGeom>
          <a:noFill/>
          <a:ln/>
        </p:spPr>
        <p:txBody>
          <a:bodyPr wrap="square" lIns="0" tIns="0" rIns="0" bIns="0" rtlCol="0" anchor="ctr"/>
          <a:lstStyle/>
          <a:p>
            <a:pPr marL="0" indent="0" algn="ctr">
              <a:buNone/>
            </a:pPr>
            <a:r>
              <a:rPr lang="en-US" sz="1500" b="1" dirty="0">
                <a:solidFill>
                  <a:srgbClr val="2B2118"/>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554480" y="2286000"/>
            <a:ext cx="3108960" cy="36576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Planeación agrícola</a:t>
            </a:r>
            <a:endParaRPr lang="en-US" sz="1800" dirty="0"/>
          </a:p>
        </p:txBody>
      </p:sp>
      <p:sp>
        <p:nvSpPr>
          <p:cNvPr id="7" name="Text 5"/>
          <p:cNvSpPr txBox="1"/>
          <p:nvPr/>
        </p:nvSpPr>
        <p:spPr>
          <a:xfrm>
            <a:off x="1554480" y="2651760"/>
            <a:ext cx="9052560" cy="457200"/>
          </a:xfrm>
          <a:prstGeom prst="rect">
            <a:avLst/>
          </a:prstGeom>
          <a:noFill/>
          <a:ln/>
        </p:spPr>
        <p:txBody>
          <a:bodyPr wrap="square" lIns="0" tIns="0" rIns="0" bIns="0" rtlCol="0" anchor="ctr"/>
          <a:lstStyle/>
          <a:p>
            <a:pPr marL="0" indent="0">
              <a:buNone/>
            </a:pPr>
            <a:r>
              <a:rPr lang="en-US" sz="1500" dirty="0">
                <a:solidFill>
                  <a:srgbClr val="E7E8D1"/>
                </a:solidFill>
                <a:latin typeface="Calibri" pitchFamily="34" charset="0"/>
                <a:ea typeface="Calibri" pitchFamily="34" charset="-122"/>
                <a:cs typeface="Calibri" pitchFamily="34" charset="-120"/>
              </a:rPr>
              <a:t>los calendarios de siembra y cosecha asumen rangos estables de temperatura</a:t>
            </a:r>
            <a:endParaRPr lang="en-US" sz="1500" dirty="0"/>
          </a:p>
        </p:txBody>
      </p:sp>
      <p:sp>
        <p:nvSpPr>
          <p:cNvPr id="8" name="Shape 6"/>
          <p:cNvSpPr/>
          <p:nvPr/>
        </p:nvSpPr>
        <p:spPr>
          <a:xfrm>
            <a:off x="914400" y="3429000"/>
            <a:ext cx="411480" cy="411480"/>
          </a:xfrm>
          <a:prstGeom prst="ellipse">
            <a:avLst/>
          </a:prstGeom>
          <a:solidFill>
            <a:srgbClr val="A7BEAE"/>
          </a:solidFill>
          <a:ln/>
        </p:spPr>
        <p:txBody>
          <a:bodyPr/>
          <a:lstStyle/>
          <a:p>
            <a:endParaRPr lang="es-CO"/>
          </a:p>
        </p:txBody>
      </p:sp>
      <p:sp>
        <p:nvSpPr>
          <p:cNvPr id="9" name="Text 7"/>
          <p:cNvSpPr txBox="1"/>
          <p:nvPr/>
        </p:nvSpPr>
        <p:spPr>
          <a:xfrm>
            <a:off x="914400" y="3429000"/>
            <a:ext cx="411480" cy="411480"/>
          </a:xfrm>
          <a:prstGeom prst="rect">
            <a:avLst/>
          </a:prstGeom>
          <a:noFill/>
          <a:ln/>
        </p:spPr>
        <p:txBody>
          <a:bodyPr wrap="square" lIns="0" tIns="0" rIns="0" bIns="0" rtlCol="0" anchor="ctr"/>
          <a:lstStyle/>
          <a:p>
            <a:pPr marL="0" indent="0" algn="ctr">
              <a:buNone/>
            </a:pPr>
            <a:r>
              <a:rPr lang="en-US" sz="1500" b="1" dirty="0">
                <a:solidFill>
                  <a:srgbClr val="2B2118"/>
                </a:solidFill>
                <a:latin typeface="Calibri" pitchFamily="34" charset="0"/>
                <a:ea typeface="Calibri" pitchFamily="34" charset="-122"/>
                <a:cs typeface="Calibri" pitchFamily="34" charset="-120"/>
              </a:rPr>
              <a:t>2</a:t>
            </a:r>
            <a:endParaRPr lang="en-US" sz="1500" dirty="0"/>
          </a:p>
        </p:txBody>
      </p:sp>
      <p:sp>
        <p:nvSpPr>
          <p:cNvPr id="10" name="Text 8"/>
          <p:cNvSpPr txBox="1"/>
          <p:nvPr/>
        </p:nvSpPr>
        <p:spPr>
          <a:xfrm>
            <a:off x="1554480" y="3337560"/>
            <a:ext cx="3108960" cy="36576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Infraestructura</a:t>
            </a:r>
            <a:endParaRPr lang="en-US" sz="1800" dirty="0"/>
          </a:p>
        </p:txBody>
      </p:sp>
      <p:sp>
        <p:nvSpPr>
          <p:cNvPr id="11" name="Text 9"/>
          <p:cNvSpPr txBox="1"/>
          <p:nvPr/>
        </p:nvSpPr>
        <p:spPr>
          <a:xfrm>
            <a:off x="1554480" y="3703320"/>
            <a:ext cx="9052560" cy="457200"/>
          </a:xfrm>
          <a:prstGeom prst="rect">
            <a:avLst/>
          </a:prstGeom>
          <a:noFill/>
          <a:ln/>
        </p:spPr>
        <p:txBody>
          <a:bodyPr wrap="square" lIns="0" tIns="0" rIns="0" bIns="0" rtlCol="0" anchor="ctr"/>
          <a:lstStyle/>
          <a:p>
            <a:pPr marL="0" indent="0">
              <a:buNone/>
            </a:pPr>
            <a:r>
              <a:rPr lang="en-US" sz="1500" dirty="0">
                <a:solidFill>
                  <a:srgbClr val="E7E8D1"/>
                </a:solidFill>
                <a:latin typeface="Calibri" pitchFamily="34" charset="0"/>
                <a:ea typeface="Calibri" pitchFamily="34" charset="-122"/>
                <a:cs typeface="Calibri" pitchFamily="34" charset="-120"/>
              </a:rPr>
              <a:t>el diseño de obras se calcula para un rango esperado, no para uno que se ensancha</a:t>
            </a:r>
            <a:endParaRPr lang="en-US" sz="1500" dirty="0"/>
          </a:p>
        </p:txBody>
      </p:sp>
      <p:sp>
        <p:nvSpPr>
          <p:cNvPr id="12" name="Shape 10"/>
          <p:cNvSpPr/>
          <p:nvPr/>
        </p:nvSpPr>
        <p:spPr>
          <a:xfrm>
            <a:off x="914400" y="4480560"/>
            <a:ext cx="411480" cy="411480"/>
          </a:xfrm>
          <a:prstGeom prst="ellipse">
            <a:avLst/>
          </a:prstGeom>
          <a:solidFill>
            <a:srgbClr val="A7BEAE"/>
          </a:solidFill>
          <a:ln/>
        </p:spPr>
        <p:txBody>
          <a:bodyPr/>
          <a:lstStyle/>
          <a:p>
            <a:endParaRPr lang="es-CO"/>
          </a:p>
        </p:txBody>
      </p:sp>
      <p:sp>
        <p:nvSpPr>
          <p:cNvPr id="13" name="Text 11"/>
          <p:cNvSpPr txBox="1"/>
          <p:nvPr/>
        </p:nvSpPr>
        <p:spPr>
          <a:xfrm>
            <a:off x="914400" y="4480560"/>
            <a:ext cx="411480" cy="411480"/>
          </a:xfrm>
          <a:prstGeom prst="rect">
            <a:avLst/>
          </a:prstGeom>
          <a:noFill/>
          <a:ln/>
        </p:spPr>
        <p:txBody>
          <a:bodyPr wrap="square" lIns="0" tIns="0" rIns="0" bIns="0" rtlCol="0" anchor="ctr"/>
          <a:lstStyle/>
          <a:p>
            <a:pPr marL="0" indent="0" algn="ctr">
              <a:buNone/>
            </a:pPr>
            <a:r>
              <a:rPr lang="en-US" sz="1500" b="1" dirty="0">
                <a:solidFill>
                  <a:srgbClr val="2B2118"/>
                </a:solidFill>
                <a:latin typeface="Calibri" pitchFamily="34" charset="0"/>
                <a:ea typeface="Calibri" pitchFamily="34" charset="-122"/>
                <a:cs typeface="Calibri" pitchFamily="34" charset="-120"/>
              </a:rPr>
              <a:t>3</a:t>
            </a:r>
            <a:endParaRPr lang="en-US" sz="1500" dirty="0"/>
          </a:p>
        </p:txBody>
      </p:sp>
      <p:sp>
        <p:nvSpPr>
          <p:cNvPr id="14" name="Text 12"/>
          <p:cNvSpPr txBox="1"/>
          <p:nvPr/>
        </p:nvSpPr>
        <p:spPr>
          <a:xfrm>
            <a:off x="1554480" y="4389120"/>
            <a:ext cx="3108960" cy="36576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Gestión de desastres</a:t>
            </a:r>
            <a:endParaRPr lang="en-US" sz="1800" dirty="0"/>
          </a:p>
        </p:txBody>
      </p:sp>
      <p:sp>
        <p:nvSpPr>
          <p:cNvPr id="15" name="Text 13"/>
          <p:cNvSpPr txBox="1"/>
          <p:nvPr/>
        </p:nvSpPr>
        <p:spPr>
          <a:xfrm>
            <a:off x="1554480" y="4754880"/>
            <a:ext cx="9052560" cy="457200"/>
          </a:xfrm>
          <a:prstGeom prst="rect">
            <a:avLst/>
          </a:prstGeom>
          <a:noFill/>
          <a:ln/>
        </p:spPr>
        <p:txBody>
          <a:bodyPr wrap="square" lIns="0" tIns="0" rIns="0" bIns="0" rtlCol="0" anchor="ctr"/>
          <a:lstStyle/>
          <a:p>
            <a:pPr marL="0" indent="0">
              <a:buNone/>
            </a:pPr>
            <a:r>
              <a:rPr lang="en-US" sz="1500" dirty="0">
                <a:solidFill>
                  <a:srgbClr val="E7E8D1"/>
                </a:solidFill>
                <a:latin typeface="Calibri" pitchFamily="34" charset="0"/>
                <a:ea typeface="Calibri" pitchFamily="34" charset="-122"/>
                <a:cs typeface="Calibri" pitchFamily="34" charset="-120"/>
              </a:rPr>
              <a:t>la preparación se dimensiona sobre la frecuencia histórica de eventos extremos</a:t>
            </a:r>
            <a:endParaRPr lang="en-US" sz="1500" dirty="0"/>
          </a:p>
        </p:txBody>
      </p:sp>
      <p:sp>
        <p:nvSpPr>
          <p:cNvPr id="16" name="Text 14"/>
          <p:cNvSpPr txBox="1"/>
          <p:nvPr/>
        </p:nvSpPr>
        <p:spPr>
          <a:xfrm>
            <a:off x="822960" y="5577840"/>
            <a:ext cx="10515600" cy="457200"/>
          </a:xfrm>
          <a:prstGeom prst="rect">
            <a:avLst/>
          </a:prstGeom>
          <a:noFill/>
          <a:ln/>
        </p:spPr>
        <p:txBody>
          <a:bodyPr wrap="square" lIns="0" tIns="0" rIns="0" bIns="0" rtlCol="0" anchor="ctr"/>
          <a:lstStyle/>
          <a:p>
            <a:pPr marL="0" indent="0">
              <a:buNone/>
            </a:pPr>
            <a:r>
              <a:rPr lang="en-US" sz="1600" b="1" i="1" dirty="0">
                <a:solidFill>
                  <a:srgbClr val="A7BEAE"/>
                </a:solidFill>
                <a:latin typeface="Calibri" pitchFamily="34" charset="0"/>
                <a:ea typeface="Calibri" pitchFamily="34" charset="-122"/>
                <a:cs typeface="Calibri" pitchFamily="34" charset="-120"/>
              </a:rPr>
              <a:t>Ya no basta con planear para “un poco más de calor”: hay que planear para un rango más amplio de posibilidades.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685800"/>
          </a:xfrm>
          <a:prstGeom prst="rect">
            <a:avLst/>
          </a:prstGeom>
          <a:noFill/>
          <a:ln/>
        </p:spPr>
        <p:txBody>
          <a:bodyPr wrap="square" lIns="0" tIns="0" rIns="0" bIns="0" rtlCol="0" anchor="ctr"/>
          <a:lstStyle/>
          <a:p>
            <a:pPr marL="0" indent="0">
              <a:buNone/>
            </a:pPr>
            <a:r>
              <a:rPr lang="en-US" sz="3400" b="1" dirty="0">
                <a:solidFill>
                  <a:srgbClr val="B85042"/>
                </a:solidFill>
                <a:latin typeface="Cambria" pitchFamily="34" charset="0"/>
                <a:ea typeface="Cambria" pitchFamily="34" charset="-122"/>
                <a:cs typeface="Cambria" pitchFamily="34" charset="-120"/>
              </a:rPr>
              <a:t>1.2.6 · Las </a:t>
            </a:r>
            <a:r>
              <a:rPr lang="en-US" sz="3400" b="1" dirty="0" err="1">
                <a:solidFill>
                  <a:srgbClr val="B85042"/>
                </a:solidFill>
                <a:latin typeface="Cambria" pitchFamily="34" charset="0"/>
                <a:ea typeface="Cambria" pitchFamily="34" charset="-122"/>
                <a:cs typeface="Cambria" pitchFamily="34" charset="-120"/>
              </a:rPr>
              <a:t>recomendaciones</a:t>
            </a:r>
            <a:r>
              <a:rPr lang="en-US" sz="3400" b="1" dirty="0">
                <a:solidFill>
                  <a:srgbClr val="B85042"/>
                </a:solidFill>
                <a:latin typeface="Cambria" pitchFamily="34" charset="0"/>
                <a:ea typeface="Cambria" pitchFamily="34" charset="-122"/>
                <a:cs typeface="Cambria" pitchFamily="34" charset="-120"/>
              </a:rPr>
              <a:t> </a:t>
            </a:r>
            <a:endParaRPr lang="en-US" sz="3400" dirty="0"/>
          </a:p>
        </p:txBody>
      </p:sp>
      <p:sp>
        <p:nvSpPr>
          <p:cNvPr id="3" name="Shape 1"/>
          <p:cNvSpPr/>
          <p:nvPr/>
        </p:nvSpPr>
        <p:spPr>
          <a:xfrm>
            <a:off x="640080" y="1371600"/>
            <a:ext cx="5257800" cy="3200400"/>
          </a:xfrm>
          <a:prstGeom prst="roundRect">
            <a:avLst>
              <a:gd name="adj" fmla="val 2286"/>
            </a:avLst>
          </a:prstGeom>
          <a:solidFill>
            <a:srgbClr val="FFFFFF"/>
          </a:solidFill>
          <a:ln w="22225">
            <a:solidFill>
              <a:srgbClr val="B85042"/>
            </a:solidFill>
            <a:prstDash val="solid"/>
          </a:ln>
        </p:spPr>
        <p:txBody>
          <a:bodyPr/>
          <a:lstStyle/>
          <a:p>
            <a:endParaRPr lang="es-CO"/>
          </a:p>
        </p:txBody>
      </p:sp>
      <p:sp>
        <p:nvSpPr>
          <p:cNvPr id="4" name="Shape 2"/>
          <p:cNvSpPr/>
          <p:nvPr/>
        </p:nvSpPr>
        <p:spPr>
          <a:xfrm>
            <a:off x="960120" y="1691640"/>
            <a:ext cx="1691640" cy="384048"/>
          </a:xfrm>
          <a:prstGeom prst="roundRect">
            <a:avLst>
              <a:gd name="adj" fmla="val 23810"/>
            </a:avLst>
          </a:prstGeom>
          <a:solidFill>
            <a:srgbClr val="B85042"/>
          </a:solidFill>
          <a:ln/>
        </p:spPr>
        <p:txBody>
          <a:bodyPr/>
          <a:lstStyle/>
          <a:p>
            <a:endParaRPr lang="es-CO"/>
          </a:p>
        </p:txBody>
      </p:sp>
      <p:sp>
        <p:nvSpPr>
          <p:cNvPr id="5" name="Text 3"/>
          <p:cNvSpPr txBox="1"/>
          <p:nvPr/>
        </p:nvSpPr>
        <p:spPr>
          <a:xfrm>
            <a:off x="960120" y="1691640"/>
            <a:ext cx="1691640" cy="384048"/>
          </a:xfrm>
          <a:prstGeom prst="rect">
            <a:avLst/>
          </a:prstGeom>
          <a:noFill/>
          <a:ln/>
        </p:spPr>
        <p:txBody>
          <a:bodyPr wrap="square" lIns="0" tIns="0" rIns="0" bIns="0" rtlCol="0" anchor="ctr"/>
          <a:lstStyle/>
          <a:p>
            <a:pPr marL="0" indent="0" algn="ctr">
              <a:buNone/>
            </a:pPr>
            <a:r>
              <a:rPr lang="en-US" sz="1200" b="1" kern="0" spc="150" dirty="0">
                <a:solidFill>
                  <a:srgbClr val="FFFFFF"/>
                </a:solidFill>
                <a:latin typeface="Calibri" pitchFamily="34" charset="0"/>
                <a:ea typeface="Calibri" pitchFamily="34" charset="-122"/>
                <a:cs typeface="Calibri" pitchFamily="34" charset="-120"/>
              </a:rPr>
              <a:t>MITIGACIÓN</a:t>
            </a:r>
            <a:endParaRPr lang="en-US" sz="1200" dirty="0"/>
          </a:p>
        </p:txBody>
      </p:sp>
      <p:sp>
        <p:nvSpPr>
          <p:cNvPr id="6" name="Text 4"/>
          <p:cNvSpPr txBox="1"/>
          <p:nvPr/>
        </p:nvSpPr>
        <p:spPr>
          <a:xfrm>
            <a:off x="960120" y="2221992"/>
            <a:ext cx="4572000" cy="457200"/>
          </a:xfrm>
          <a:prstGeom prst="rect">
            <a:avLst/>
          </a:prstGeom>
          <a:noFill/>
          <a:ln/>
        </p:spPr>
        <p:txBody>
          <a:bodyPr wrap="square" lIns="0" tIns="0" rIns="0" bIns="0" rtlCol="0" anchor="ctr"/>
          <a:lstStyle/>
          <a:p>
            <a:pPr marL="0" indent="0">
              <a:buNone/>
            </a:pPr>
            <a:r>
              <a:rPr lang="en-US" sz="2200" b="1" dirty="0">
                <a:solidFill>
                  <a:srgbClr val="3A3129"/>
                </a:solidFill>
                <a:latin typeface="Cambria" pitchFamily="34" charset="0"/>
                <a:ea typeface="Cambria" pitchFamily="34" charset="-122"/>
                <a:cs typeface="Cambria" pitchFamily="34" charset="-120"/>
              </a:rPr>
              <a:t>Atacar la causa</a:t>
            </a:r>
            <a:endParaRPr lang="en-US" sz="2200" dirty="0"/>
          </a:p>
        </p:txBody>
      </p:sp>
      <p:sp>
        <p:nvSpPr>
          <p:cNvPr id="7" name="Text 5"/>
          <p:cNvSpPr txBox="1"/>
          <p:nvPr/>
        </p:nvSpPr>
        <p:spPr>
          <a:xfrm>
            <a:off x="960120" y="2770632"/>
            <a:ext cx="4617720" cy="1600200"/>
          </a:xfrm>
          <a:prstGeom prst="rect">
            <a:avLst/>
          </a:prstGeom>
          <a:noFill/>
          <a:ln/>
        </p:spPr>
        <p:txBody>
          <a:bodyPr wrap="square" lIns="0" tIns="0" rIns="0" bIns="0" rtlCol="0" anchor="ctr"/>
          <a:lstStyle/>
          <a:p>
            <a:pPr marL="342900" indent="-342900">
              <a:lnSpc>
                <a:spcPts val="1900"/>
              </a:lnSpc>
              <a:spcAft>
                <a:spcPts val="800"/>
              </a:spcAft>
              <a:buSzPct val="100000"/>
              <a:buChar char="•"/>
            </a:pPr>
            <a:r>
              <a:rPr lang="en-US" sz="1400" dirty="0">
                <a:solidFill>
                  <a:srgbClr val="3A3129"/>
                </a:solidFill>
                <a:latin typeface="Calibri" pitchFamily="34" charset="0"/>
                <a:ea typeface="Calibri" pitchFamily="34" charset="-122"/>
                <a:cs typeface="Calibri" pitchFamily="34" charset="-120"/>
              </a:rPr>
              <a:t>Reducir las emisiones detrás del calentamiento</a:t>
            </a:r>
            <a:endParaRPr lang="en-US" sz="1400" dirty="0"/>
          </a:p>
          <a:p>
            <a:pPr marL="342900" indent="-342900">
              <a:lnSpc>
                <a:spcPts val="1900"/>
              </a:lnSpc>
              <a:spcAft>
                <a:spcPts val="800"/>
              </a:spcAft>
              <a:buSzPct val="100000"/>
              <a:buChar char="•"/>
            </a:pPr>
            <a:r>
              <a:rPr lang="en-US" sz="1400" dirty="0">
                <a:solidFill>
                  <a:srgbClr val="3A3129"/>
                </a:solidFill>
                <a:latin typeface="Calibri" pitchFamily="34" charset="0"/>
                <a:ea typeface="Calibri" pitchFamily="34" charset="-122"/>
                <a:cs typeface="Calibri" pitchFamily="34" charset="-120"/>
              </a:rPr>
              <a:t>Responde al desplazamiento del promedio (1.2.2 y 1.2.4)</a:t>
            </a:r>
            <a:endParaRPr lang="en-US" sz="1400" dirty="0"/>
          </a:p>
          <a:p>
            <a:pPr marL="342900" indent="-342900">
              <a:lnSpc>
                <a:spcPts val="1900"/>
              </a:lnSpc>
              <a:spcAft>
                <a:spcPts val="800"/>
              </a:spcAft>
              <a:buSzPct val="100000"/>
              <a:buChar char="•"/>
            </a:pPr>
            <a:r>
              <a:rPr lang="en-US" sz="1400" dirty="0">
                <a:solidFill>
                  <a:srgbClr val="3A3129"/>
                </a:solidFill>
                <a:latin typeface="Calibri" pitchFamily="34" charset="0"/>
                <a:ea typeface="Calibri" pitchFamily="34" charset="-122"/>
                <a:cs typeface="Calibri" pitchFamily="34" charset="-120"/>
              </a:rPr>
              <a:t>Efecto de largo plazo</a:t>
            </a:r>
            <a:endParaRPr lang="en-US" sz="1400" dirty="0"/>
          </a:p>
        </p:txBody>
      </p:sp>
      <p:sp>
        <p:nvSpPr>
          <p:cNvPr id="8" name="Shape 6"/>
          <p:cNvSpPr/>
          <p:nvPr/>
        </p:nvSpPr>
        <p:spPr>
          <a:xfrm>
            <a:off x="6263640" y="1371600"/>
            <a:ext cx="5257800" cy="3200400"/>
          </a:xfrm>
          <a:prstGeom prst="roundRect">
            <a:avLst>
              <a:gd name="adj" fmla="val 2286"/>
            </a:avLst>
          </a:prstGeom>
          <a:solidFill>
            <a:srgbClr val="FFFFFF"/>
          </a:solidFill>
          <a:ln w="22225">
            <a:solidFill>
              <a:srgbClr val="A7BEAE"/>
            </a:solidFill>
            <a:prstDash val="solid"/>
          </a:ln>
        </p:spPr>
        <p:txBody>
          <a:bodyPr/>
          <a:lstStyle/>
          <a:p>
            <a:endParaRPr lang="es-CO"/>
          </a:p>
        </p:txBody>
      </p:sp>
      <p:sp>
        <p:nvSpPr>
          <p:cNvPr id="9" name="Shape 7"/>
          <p:cNvSpPr/>
          <p:nvPr/>
        </p:nvSpPr>
        <p:spPr>
          <a:xfrm>
            <a:off x="6583680" y="1691640"/>
            <a:ext cx="1691640" cy="384048"/>
          </a:xfrm>
          <a:prstGeom prst="roundRect">
            <a:avLst>
              <a:gd name="adj" fmla="val 23810"/>
            </a:avLst>
          </a:prstGeom>
          <a:solidFill>
            <a:srgbClr val="A7BEAE"/>
          </a:solidFill>
          <a:ln/>
        </p:spPr>
        <p:txBody>
          <a:bodyPr/>
          <a:lstStyle/>
          <a:p>
            <a:endParaRPr lang="es-CO"/>
          </a:p>
        </p:txBody>
      </p:sp>
      <p:sp>
        <p:nvSpPr>
          <p:cNvPr id="10" name="Text 8"/>
          <p:cNvSpPr txBox="1"/>
          <p:nvPr/>
        </p:nvSpPr>
        <p:spPr>
          <a:xfrm>
            <a:off x="6583680" y="1691640"/>
            <a:ext cx="1691640" cy="384048"/>
          </a:xfrm>
          <a:prstGeom prst="rect">
            <a:avLst/>
          </a:prstGeom>
          <a:noFill/>
          <a:ln/>
        </p:spPr>
        <p:txBody>
          <a:bodyPr wrap="square" lIns="0" tIns="0" rIns="0" bIns="0" rtlCol="0" anchor="ctr"/>
          <a:lstStyle/>
          <a:p>
            <a:pPr marL="0" indent="0" algn="ctr">
              <a:buNone/>
            </a:pPr>
            <a:r>
              <a:rPr lang="en-US" sz="1200" b="1" kern="0" spc="150" dirty="0">
                <a:solidFill>
                  <a:srgbClr val="2B2118"/>
                </a:solidFill>
                <a:latin typeface="Calibri" pitchFamily="34" charset="0"/>
                <a:ea typeface="Calibri" pitchFamily="34" charset="-122"/>
                <a:cs typeface="Calibri" pitchFamily="34" charset="-120"/>
              </a:rPr>
              <a:t>ADAPTACIÓN</a:t>
            </a:r>
            <a:endParaRPr lang="en-US" sz="1200" dirty="0"/>
          </a:p>
        </p:txBody>
      </p:sp>
      <p:sp>
        <p:nvSpPr>
          <p:cNvPr id="11" name="Text 9"/>
          <p:cNvSpPr txBox="1"/>
          <p:nvPr/>
        </p:nvSpPr>
        <p:spPr>
          <a:xfrm>
            <a:off x="6583680" y="2221992"/>
            <a:ext cx="4572000" cy="457200"/>
          </a:xfrm>
          <a:prstGeom prst="rect">
            <a:avLst/>
          </a:prstGeom>
          <a:noFill/>
          <a:ln/>
        </p:spPr>
        <p:txBody>
          <a:bodyPr wrap="square" lIns="0" tIns="0" rIns="0" bIns="0" rtlCol="0" anchor="ctr"/>
          <a:lstStyle/>
          <a:p>
            <a:pPr marL="0" indent="0">
              <a:buNone/>
            </a:pPr>
            <a:r>
              <a:rPr lang="en-US" sz="2200" b="1" dirty="0">
                <a:solidFill>
                  <a:srgbClr val="3A3129"/>
                </a:solidFill>
                <a:latin typeface="Cambria" pitchFamily="34" charset="0"/>
                <a:ea typeface="Cambria" pitchFamily="34" charset="-122"/>
                <a:cs typeface="Cambria" pitchFamily="34" charset="-120"/>
              </a:rPr>
              <a:t>Prepararse para el efecto</a:t>
            </a:r>
            <a:endParaRPr lang="en-US" sz="2200" dirty="0"/>
          </a:p>
        </p:txBody>
      </p:sp>
      <p:sp>
        <p:nvSpPr>
          <p:cNvPr id="12" name="Text 10"/>
          <p:cNvSpPr txBox="1"/>
          <p:nvPr/>
        </p:nvSpPr>
        <p:spPr>
          <a:xfrm>
            <a:off x="6583680" y="2770632"/>
            <a:ext cx="4617720" cy="1600200"/>
          </a:xfrm>
          <a:prstGeom prst="rect">
            <a:avLst/>
          </a:prstGeom>
          <a:noFill/>
          <a:ln/>
        </p:spPr>
        <p:txBody>
          <a:bodyPr wrap="square" lIns="0" tIns="0" rIns="0" bIns="0" rtlCol="0" anchor="ctr"/>
          <a:lstStyle/>
          <a:p>
            <a:pPr marL="342900" indent="-342900">
              <a:lnSpc>
                <a:spcPts val="1900"/>
              </a:lnSpc>
              <a:spcAft>
                <a:spcPts val="800"/>
              </a:spcAft>
              <a:buSzPct val="100000"/>
              <a:buChar char="•"/>
            </a:pPr>
            <a:r>
              <a:rPr lang="en-US" sz="1400" dirty="0">
                <a:solidFill>
                  <a:srgbClr val="3A3129"/>
                </a:solidFill>
                <a:latin typeface="Calibri" pitchFamily="34" charset="0"/>
                <a:ea typeface="Calibri" pitchFamily="34" charset="-122"/>
                <a:cs typeface="Calibri" pitchFamily="34" charset="-120"/>
              </a:rPr>
              <a:t>Anticipar mayor frecuencia e intensidad de extremos</a:t>
            </a:r>
            <a:endParaRPr lang="en-US" sz="1400" dirty="0"/>
          </a:p>
          <a:p>
            <a:pPr marL="342900" indent="-342900">
              <a:lnSpc>
                <a:spcPts val="1900"/>
              </a:lnSpc>
              <a:spcAft>
                <a:spcPts val="800"/>
              </a:spcAft>
              <a:buSzPct val="100000"/>
              <a:buChar char="•"/>
            </a:pPr>
            <a:r>
              <a:rPr lang="en-US" sz="1400" dirty="0">
                <a:solidFill>
                  <a:srgbClr val="3A3129"/>
                </a:solidFill>
                <a:latin typeface="Calibri" pitchFamily="34" charset="0"/>
                <a:ea typeface="Calibri" pitchFamily="34" charset="-122"/>
                <a:cs typeface="Calibri" pitchFamily="34" charset="-120"/>
              </a:rPr>
              <a:t>Responde al aumento de varianza (1.2.5)</a:t>
            </a:r>
            <a:endParaRPr lang="en-US" sz="1400" dirty="0"/>
          </a:p>
          <a:p>
            <a:pPr marL="342900" indent="-342900">
              <a:lnSpc>
                <a:spcPts val="1900"/>
              </a:lnSpc>
              <a:spcAft>
                <a:spcPts val="800"/>
              </a:spcAft>
              <a:buSzPct val="100000"/>
              <a:buChar char="•"/>
            </a:pPr>
            <a:r>
              <a:rPr lang="en-US" sz="1400" dirty="0">
                <a:solidFill>
                  <a:srgbClr val="3A3129"/>
                </a:solidFill>
                <a:latin typeface="Calibri" pitchFamily="34" charset="0"/>
                <a:ea typeface="Calibri" pitchFamily="34" charset="-122"/>
                <a:cs typeface="Calibri" pitchFamily="34" charset="-120"/>
              </a:rPr>
              <a:t>Necesaria incluso si la mitigación funciona hoy</a:t>
            </a:r>
            <a:endParaRPr lang="en-US" sz="1400" dirty="0"/>
          </a:p>
        </p:txBody>
      </p:sp>
      <p:sp>
        <p:nvSpPr>
          <p:cNvPr id="13" name="Shape 11"/>
          <p:cNvSpPr/>
          <p:nvPr/>
        </p:nvSpPr>
        <p:spPr>
          <a:xfrm>
            <a:off x="640080" y="4800600"/>
            <a:ext cx="10881360" cy="822960"/>
          </a:xfrm>
          <a:prstGeom prst="roundRect">
            <a:avLst>
              <a:gd name="adj" fmla="val 8889"/>
            </a:avLst>
          </a:prstGeom>
          <a:solidFill>
            <a:srgbClr val="E7E8D1"/>
          </a:solidFill>
          <a:ln w="12700">
            <a:solidFill>
              <a:srgbClr val="E7E8D1"/>
            </a:solidFill>
            <a:prstDash val="solid"/>
          </a:ln>
        </p:spPr>
        <p:txBody>
          <a:bodyPr/>
          <a:lstStyle/>
          <a:p>
            <a:endParaRPr lang="es-CO"/>
          </a:p>
        </p:txBody>
      </p:sp>
      <p:sp>
        <p:nvSpPr>
          <p:cNvPr id="14" name="Text 12"/>
          <p:cNvSpPr txBox="1"/>
          <p:nvPr/>
        </p:nvSpPr>
        <p:spPr>
          <a:xfrm>
            <a:off x="960120" y="4800600"/>
            <a:ext cx="10241280" cy="822960"/>
          </a:xfrm>
          <a:prstGeom prst="rect">
            <a:avLst/>
          </a:prstGeom>
          <a:noFill/>
          <a:ln/>
        </p:spPr>
        <p:txBody>
          <a:bodyPr wrap="square" lIns="0" tIns="0" rIns="0" bIns="0" rtlCol="0" anchor="ctr"/>
          <a:lstStyle/>
          <a:p>
            <a:pPr marL="0" indent="0">
              <a:buNone/>
            </a:pPr>
            <a:r>
              <a:rPr lang="en-US" sz="1500" b="1" i="1" dirty="0">
                <a:solidFill>
                  <a:srgbClr val="3A3129"/>
                </a:solidFill>
                <a:latin typeface="Calibri" pitchFamily="34" charset="0"/>
                <a:ea typeface="Calibri" pitchFamily="34" charset="-122"/>
                <a:cs typeface="Calibri" pitchFamily="34" charset="-120"/>
              </a:rPr>
              <a:t>Elegir solo una sería ignorar la mitad de la evidencia: el promedio sube, sí — pero la imprevisibilidad también.</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B2118"/>
        </a:solidFill>
        <a:effectLst/>
      </p:bgPr>
    </p:bg>
    <p:spTree>
      <p:nvGrpSpPr>
        <p:cNvPr id="1" name=""/>
        <p:cNvGrpSpPr/>
        <p:nvPr/>
      </p:nvGrpSpPr>
      <p:grpSpPr>
        <a:xfrm>
          <a:off x="0" y="0"/>
          <a:ext cx="0" cy="0"/>
          <a:chOff x="0" y="0"/>
          <a:chExt cx="0" cy="0"/>
        </a:xfrm>
      </p:grpSpPr>
      <p:sp>
        <p:nvSpPr>
          <p:cNvPr id="2" name="Shape 0"/>
          <p:cNvSpPr/>
          <p:nvPr/>
        </p:nvSpPr>
        <p:spPr>
          <a:xfrm>
            <a:off x="-1371600" y="4206240"/>
            <a:ext cx="3840480" cy="3840480"/>
          </a:xfrm>
          <a:prstGeom prst="ellipse">
            <a:avLst/>
          </a:prstGeom>
          <a:solidFill>
            <a:srgbClr val="B85042">
              <a:alpha val="22000"/>
            </a:srgbClr>
          </a:solidFill>
          <a:ln/>
        </p:spPr>
        <p:txBody>
          <a:bodyPr/>
          <a:lstStyle/>
          <a:p>
            <a:endParaRPr lang="es-CO"/>
          </a:p>
        </p:txBody>
      </p:sp>
      <p:sp>
        <p:nvSpPr>
          <p:cNvPr id="3" name="Text 1"/>
          <p:cNvSpPr txBox="1"/>
          <p:nvPr/>
        </p:nvSpPr>
        <p:spPr>
          <a:xfrm>
            <a:off x="822960" y="685800"/>
            <a:ext cx="10515600" cy="68580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a:t>
            </a:r>
            <a:r>
              <a:rPr lang="en-US" sz="3400" b="1" dirty="0" err="1">
                <a:solidFill>
                  <a:srgbClr val="FFFFFF"/>
                </a:solidFill>
                <a:latin typeface="Cambria" pitchFamily="34" charset="0"/>
                <a:ea typeface="Cambria" pitchFamily="34" charset="-122"/>
                <a:cs typeface="Cambria" pitchFamily="34" charset="-120"/>
              </a:rPr>
              <a:t>Qué</a:t>
            </a:r>
            <a:r>
              <a:rPr lang="en-US" sz="3400" b="1" dirty="0">
                <a:solidFill>
                  <a:srgbClr val="FFFFFF"/>
                </a:solidFill>
                <a:latin typeface="Cambria" pitchFamily="34" charset="0"/>
                <a:ea typeface="Cambria" pitchFamily="34" charset="-122"/>
                <a:cs typeface="Cambria" pitchFamily="34" charset="-120"/>
              </a:rPr>
              <a:t> </a:t>
            </a:r>
            <a:r>
              <a:rPr lang="en-US" sz="3400" b="1" dirty="0" err="1">
                <a:solidFill>
                  <a:srgbClr val="FFFFFF"/>
                </a:solidFill>
                <a:latin typeface="Cambria" pitchFamily="34" charset="0"/>
                <a:ea typeface="Cambria" pitchFamily="34" charset="-122"/>
                <a:cs typeface="Cambria" pitchFamily="34" charset="-120"/>
              </a:rPr>
              <a:t>información</a:t>
            </a:r>
            <a:r>
              <a:rPr lang="en-US" sz="3400" b="1" dirty="0">
                <a:solidFill>
                  <a:srgbClr val="FFFFFF"/>
                </a:solidFill>
                <a:latin typeface="Cambria" pitchFamily="34" charset="0"/>
                <a:ea typeface="Cambria" pitchFamily="34" charset="-122"/>
                <a:cs typeface="Cambria" pitchFamily="34" charset="-120"/>
              </a:rPr>
              <a:t> </a:t>
            </a:r>
            <a:r>
              <a:rPr lang="en-US" sz="3400" b="1" dirty="0" err="1">
                <a:solidFill>
                  <a:srgbClr val="FFFFFF"/>
                </a:solidFill>
                <a:latin typeface="Cambria" pitchFamily="34" charset="0"/>
                <a:ea typeface="Cambria" pitchFamily="34" charset="-122"/>
                <a:cs typeface="Cambria" pitchFamily="34" charset="-120"/>
              </a:rPr>
              <a:t>pediríamos</a:t>
            </a:r>
            <a:r>
              <a:rPr lang="en-US" sz="3400" b="1" dirty="0">
                <a:solidFill>
                  <a:srgbClr val="FFFFFF"/>
                </a:solidFill>
                <a:latin typeface="Cambria" pitchFamily="34" charset="0"/>
                <a:ea typeface="Cambria" pitchFamily="34" charset="-122"/>
                <a:cs typeface="Cambria" pitchFamily="34" charset="-120"/>
              </a:rPr>
              <a:t>?</a:t>
            </a:r>
            <a:endParaRPr lang="en-US" sz="3400" dirty="0"/>
          </a:p>
        </p:txBody>
      </p:sp>
      <p:sp>
        <p:nvSpPr>
          <p:cNvPr id="4" name="Text 2"/>
          <p:cNvSpPr txBox="1"/>
          <p:nvPr/>
        </p:nvSpPr>
        <p:spPr>
          <a:xfrm>
            <a:off x="822960" y="1371600"/>
            <a:ext cx="10515600" cy="365760"/>
          </a:xfrm>
          <a:prstGeom prst="rect">
            <a:avLst/>
          </a:prstGeom>
          <a:noFill/>
          <a:ln/>
        </p:spPr>
        <p:txBody>
          <a:bodyPr wrap="square" lIns="0" tIns="0" rIns="0" bIns="0" rtlCol="0" anchor="ctr"/>
          <a:lstStyle/>
          <a:p>
            <a:pPr marL="0" indent="0">
              <a:buNone/>
            </a:pPr>
            <a:r>
              <a:rPr lang="en-US" sz="1500" i="1" dirty="0">
                <a:solidFill>
                  <a:srgbClr val="E7E8D1"/>
                </a:solidFill>
                <a:latin typeface="Calibri" pitchFamily="34" charset="0"/>
                <a:ea typeface="Calibri" pitchFamily="34" charset="-122"/>
                <a:cs typeface="Calibri" pitchFamily="34" charset="-120"/>
              </a:rPr>
              <a:t>Para traducir esta recomendación en política concreta</a:t>
            </a:r>
            <a:endParaRPr lang="en-US" sz="1500" dirty="0"/>
          </a:p>
        </p:txBody>
      </p:sp>
      <p:sp>
        <p:nvSpPr>
          <p:cNvPr id="5" name="Shape 3"/>
          <p:cNvSpPr/>
          <p:nvPr/>
        </p:nvSpPr>
        <p:spPr>
          <a:xfrm>
            <a:off x="914400" y="2221992"/>
            <a:ext cx="384048" cy="384048"/>
          </a:xfrm>
          <a:prstGeom prst="ellipse">
            <a:avLst/>
          </a:prstGeom>
          <a:solidFill>
            <a:srgbClr val="A7BEAE"/>
          </a:solidFill>
          <a:ln/>
        </p:spPr>
        <p:txBody>
          <a:bodyPr/>
          <a:lstStyle/>
          <a:p>
            <a:endParaRPr lang="es-CO"/>
          </a:p>
        </p:txBody>
      </p:sp>
      <p:sp>
        <p:nvSpPr>
          <p:cNvPr id="6" name="Text 4"/>
          <p:cNvSpPr txBox="1"/>
          <p:nvPr/>
        </p:nvSpPr>
        <p:spPr>
          <a:xfrm>
            <a:off x="914400" y="2221992"/>
            <a:ext cx="384048" cy="384048"/>
          </a:xfrm>
          <a:prstGeom prst="rect">
            <a:avLst/>
          </a:prstGeom>
          <a:noFill/>
          <a:ln/>
        </p:spPr>
        <p:txBody>
          <a:bodyPr wrap="square" lIns="0" tIns="0" rIns="0" bIns="0" rtlCol="0" anchor="ctr"/>
          <a:lstStyle/>
          <a:p>
            <a:pPr marL="0" indent="0" algn="ctr">
              <a:buNone/>
            </a:pPr>
            <a:r>
              <a:rPr lang="en-US" sz="1400" b="1" dirty="0">
                <a:solidFill>
                  <a:srgbClr val="2B2118"/>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508760" y="2148840"/>
            <a:ext cx="9601200" cy="54864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Costos históricos  </a:t>
            </a:r>
            <a:r>
              <a:rPr lang="en-US" sz="1500" dirty="0">
                <a:solidFill>
                  <a:srgbClr val="E7E8D1"/>
                </a:solidFill>
                <a:latin typeface="Calibri" pitchFamily="34" charset="0"/>
                <a:ea typeface="Calibri" pitchFamily="34" charset="-122"/>
                <a:cs typeface="Calibri" pitchFamily="34" charset="-120"/>
              </a:rPr>
              <a:t>de eventos climáticos extremos en el país</a:t>
            </a:r>
            <a:endParaRPr lang="en-US" sz="1700" dirty="0"/>
          </a:p>
        </p:txBody>
      </p:sp>
      <p:sp>
        <p:nvSpPr>
          <p:cNvPr id="8" name="Shape 6"/>
          <p:cNvSpPr/>
          <p:nvPr/>
        </p:nvSpPr>
        <p:spPr>
          <a:xfrm>
            <a:off x="914400" y="3182112"/>
            <a:ext cx="384048" cy="384048"/>
          </a:xfrm>
          <a:prstGeom prst="ellipse">
            <a:avLst/>
          </a:prstGeom>
          <a:solidFill>
            <a:srgbClr val="A7BEAE"/>
          </a:solidFill>
          <a:ln/>
        </p:spPr>
        <p:txBody>
          <a:bodyPr/>
          <a:lstStyle/>
          <a:p>
            <a:endParaRPr lang="es-CO"/>
          </a:p>
        </p:txBody>
      </p:sp>
      <p:sp>
        <p:nvSpPr>
          <p:cNvPr id="9" name="Text 7"/>
          <p:cNvSpPr txBox="1"/>
          <p:nvPr/>
        </p:nvSpPr>
        <p:spPr>
          <a:xfrm>
            <a:off x="914400" y="3182112"/>
            <a:ext cx="384048" cy="384048"/>
          </a:xfrm>
          <a:prstGeom prst="rect">
            <a:avLst/>
          </a:prstGeom>
          <a:noFill/>
          <a:ln/>
        </p:spPr>
        <p:txBody>
          <a:bodyPr wrap="square" lIns="0" tIns="0" rIns="0" bIns="0" rtlCol="0" anchor="ctr"/>
          <a:lstStyle/>
          <a:p>
            <a:pPr marL="0" indent="0" algn="ctr">
              <a:buNone/>
            </a:pPr>
            <a:r>
              <a:rPr lang="en-US" sz="1400" b="1" dirty="0">
                <a:solidFill>
                  <a:srgbClr val="2B2118"/>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1508760" y="3108960"/>
            <a:ext cx="9601200" cy="54864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Costo-beneficio  </a:t>
            </a:r>
            <a:r>
              <a:rPr lang="en-US" sz="1500" dirty="0">
                <a:solidFill>
                  <a:srgbClr val="E7E8D1"/>
                </a:solidFill>
                <a:latin typeface="Calibri" pitchFamily="34" charset="0"/>
                <a:ea typeface="Calibri" pitchFamily="34" charset="-122"/>
                <a:cs typeface="Calibri" pitchFamily="34" charset="-120"/>
              </a:rPr>
              <a:t>de medidas específicas de mitigación y de adaptación</a:t>
            </a:r>
            <a:endParaRPr lang="en-US" sz="1700" dirty="0"/>
          </a:p>
        </p:txBody>
      </p:sp>
      <p:sp>
        <p:nvSpPr>
          <p:cNvPr id="11" name="Shape 9"/>
          <p:cNvSpPr/>
          <p:nvPr/>
        </p:nvSpPr>
        <p:spPr>
          <a:xfrm>
            <a:off x="914400" y="4142232"/>
            <a:ext cx="384048" cy="384048"/>
          </a:xfrm>
          <a:prstGeom prst="ellipse">
            <a:avLst/>
          </a:prstGeom>
          <a:solidFill>
            <a:srgbClr val="A7BEAE"/>
          </a:solidFill>
          <a:ln/>
        </p:spPr>
        <p:txBody>
          <a:bodyPr/>
          <a:lstStyle/>
          <a:p>
            <a:endParaRPr lang="es-CO"/>
          </a:p>
        </p:txBody>
      </p:sp>
      <p:sp>
        <p:nvSpPr>
          <p:cNvPr id="12" name="Text 10"/>
          <p:cNvSpPr txBox="1"/>
          <p:nvPr/>
        </p:nvSpPr>
        <p:spPr>
          <a:xfrm>
            <a:off x="914400" y="4142232"/>
            <a:ext cx="384048" cy="384048"/>
          </a:xfrm>
          <a:prstGeom prst="rect">
            <a:avLst/>
          </a:prstGeom>
          <a:noFill/>
          <a:ln/>
        </p:spPr>
        <p:txBody>
          <a:bodyPr wrap="square" lIns="0" tIns="0" rIns="0" bIns="0" rtlCol="0" anchor="ctr"/>
          <a:lstStyle/>
          <a:p>
            <a:pPr marL="0" indent="0" algn="ctr">
              <a:buNone/>
            </a:pPr>
            <a:r>
              <a:rPr lang="en-US" sz="1400" b="1" dirty="0">
                <a:solidFill>
                  <a:srgbClr val="2B2118"/>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1508760" y="4069080"/>
            <a:ext cx="9601200" cy="54864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Mapa de vulnerabilidad  </a:t>
            </a:r>
            <a:r>
              <a:rPr lang="en-US" sz="1500" dirty="0">
                <a:solidFill>
                  <a:srgbClr val="E7E8D1"/>
                </a:solidFill>
                <a:latin typeface="Calibri" pitchFamily="34" charset="0"/>
                <a:ea typeface="Calibri" pitchFamily="34" charset="-122"/>
                <a:cs typeface="Calibri" pitchFamily="34" charset="-120"/>
              </a:rPr>
              <a:t>por región y sector económico, para saber dónde priorizar</a:t>
            </a:r>
            <a:endParaRPr lang="en-US" sz="1700" dirty="0"/>
          </a:p>
        </p:txBody>
      </p:sp>
      <p:sp>
        <p:nvSpPr>
          <p:cNvPr id="14" name="Text 12"/>
          <p:cNvSpPr txBox="1"/>
          <p:nvPr/>
        </p:nvSpPr>
        <p:spPr>
          <a:xfrm>
            <a:off x="822960" y="5257800"/>
            <a:ext cx="10515600" cy="822960"/>
          </a:xfrm>
          <a:prstGeom prst="rect">
            <a:avLst/>
          </a:prstGeom>
          <a:noFill/>
          <a:ln/>
        </p:spPr>
        <p:txBody>
          <a:bodyPr wrap="square" lIns="0" tIns="0" rIns="0" bIns="0" rtlCol="0" anchor="ctr"/>
          <a:lstStyle/>
          <a:p>
            <a:pPr marL="0" indent="0">
              <a:lnSpc>
                <a:spcPts val="2200"/>
              </a:lnSpc>
              <a:buNone/>
            </a:pPr>
            <a:r>
              <a:rPr lang="en-US" sz="1500" i="1" dirty="0">
                <a:solidFill>
                  <a:srgbClr val="A7BEAE"/>
                </a:solidFill>
                <a:latin typeface="Calibri" pitchFamily="34" charset="0"/>
                <a:ea typeface="Calibri" pitchFamily="34" charset="-122"/>
                <a:cs typeface="Calibri" pitchFamily="34" charset="-120"/>
              </a:rPr>
              <a:t>Nuestro análisis da la base científica de que el problema es real y tiene dos caras.</a:t>
            </a:r>
            <a:endParaRPr lang="en-US" sz="1500" dirty="0"/>
          </a:p>
          <a:p>
            <a:pPr marL="0" indent="0">
              <a:lnSpc>
                <a:spcPts val="2200"/>
              </a:lnSpc>
              <a:buNone/>
            </a:pPr>
            <a:r>
              <a:rPr lang="en-US" sz="1500" i="1" dirty="0">
                <a:solidFill>
                  <a:srgbClr val="A7BEAE"/>
                </a:solidFill>
                <a:latin typeface="Calibri" pitchFamily="34" charset="0"/>
                <a:ea typeface="Calibri" pitchFamily="34" charset="-122"/>
                <a:cs typeface="Calibri" pitchFamily="34" charset="-120"/>
              </a:rPr>
              <a:t>El diseño detallado de la política es el siguiente paso.</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1388</Words>
  <Application>Microsoft Office PowerPoint</Application>
  <PresentationFormat>Panorámica</PresentationFormat>
  <Paragraphs>86</Paragraphs>
  <Slides>7</Slides>
  <Notes>7</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7</vt:i4>
      </vt:variant>
    </vt:vector>
  </HeadingPairs>
  <TitlesOfParts>
    <vt:vector size="11" baseType="lpstr">
      <vt:lpstr>Arial</vt:lpstr>
      <vt:lpstr>Calibri</vt:lpstr>
      <vt:lpstr>Cambria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univerisdaduroholman@outlook.com</cp:lastModifiedBy>
  <cp:revision>3</cp:revision>
  <dcterms:created xsi:type="dcterms:W3CDTF">2026-09-09T18:20:22Z</dcterms:created>
  <dcterms:modified xsi:type="dcterms:W3CDTF">2026-09-09T18:54:12Z</dcterms:modified>
</cp:coreProperties>
</file>